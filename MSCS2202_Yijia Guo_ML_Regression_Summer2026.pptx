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774" autoAdjust="0"/>
  </p:normalViewPr>
  <p:slideViewPr>
    <p:cSldViewPr snapToGrid="0" snapToObjects="1">
      <p:cViewPr>
        <p:scale>
          <a:sx n="66" d="100"/>
          <a:sy n="66" d="100"/>
        </p:scale>
        <p:origin x="1301"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Missing rows</c:v>
                </c:pt>
              </c:strCache>
            </c:strRef>
          </c:tx>
          <c:spPr>
            <a:solidFill>
              <a:srgbClr val="1C7293"/>
            </a:solidFill>
            <a:effectLst/>
          </c:spPr>
          <c:invertIfNegative val="0"/>
          <c:cat>
            <c:strRef>
              <c:f>Sheet1!$A$2:$A$21</c:f>
              <c:strCache>
                <c:ptCount val="20"/>
                <c:pt idx="0">
                  <c:v>x0</c:v>
                </c:pt>
                <c:pt idx="1">
                  <c:v>x1</c:v>
                </c:pt>
                <c:pt idx="2">
                  <c:v>x2</c:v>
                </c:pt>
                <c:pt idx="3">
                  <c:v>x3</c:v>
                </c:pt>
                <c:pt idx="4">
                  <c:v>x4</c:v>
                </c:pt>
                <c:pt idx="5">
                  <c:v>x5</c:v>
                </c:pt>
                <c:pt idx="6">
                  <c:v>x6</c:v>
                </c:pt>
                <c:pt idx="7">
                  <c:v>x7</c:v>
                </c:pt>
                <c:pt idx="8">
                  <c:v>x8</c:v>
                </c:pt>
                <c:pt idx="9">
                  <c:v>x9</c:v>
                </c:pt>
                <c:pt idx="10">
                  <c:v>x10</c:v>
                </c:pt>
                <c:pt idx="11">
                  <c:v>x11</c:v>
                </c:pt>
                <c:pt idx="12">
                  <c:v>x12</c:v>
                </c:pt>
                <c:pt idx="13">
                  <c:v>x13</c:v>
                </c:pt>
                <c:pt idx="14">
                  <c:v>x14</c:v>
                </c:pt>
                <c:pt idx="15">
                  <c:v>x15</c:v>
                </c:pt>
                <c:pt idx="16">
                  <c:v>x16</c:v>
                </c:pt>
                <c:pt idx="17">
                  <c:v>x17</c:v>
                </c:pt>
                <c:pt idx="18">
                  <c:v>x18</c:v>
                </c:pt>
                <c:pt idx="19">
                  <c:v>x19</c:v>
                </c:pt>
              </c:strCache>
            </c:strRef>
          </c:cat>
          <c:val>
            <c:numRef>
              <c:f>Sheet1!$B$2:$B$21</c:f>
              <c:numCache>
                <c:formatCode>General</c:formatCode>
                <c:ptCount val="20"/>
                <c:pt idx="0">
                  <c:v>22</c:v>
                </c:pt>
                <c:pt idx="1">
                  <c:v>21</c:v>
                </c:pt>
                <c:pt idx="2">
                  <c:v>25</c:v>
                </c:pt>
                <c:pt idx="3">
                  <c:v>22</c:v>
                </c:pt>
                <c:pt idx="4">
                  <c:v>27</c:v>
                </c:pt>
                <c:pt idx="5">
                  <c:v>31</c:v>
                </c:pt>
                <c:pt idx="6">
                  <c:v>24</c:v>
                </c:pt>
                <c:pt idx="7">
                  <c:v>15</c:v>
                </c:pt>
                <c:pt idx="8">
                  <c:v>20</c:v>
                </c:pt>
                <c:pt idx="9">
                  <c:v>28</c:v>
                </c:pt>
                <c:pt idx="10">
                  <c:v>25</c:v>
                </c:pt>
                <c:pt idx="11">
                  <c:v>26</c:v>
                </c:pt>
                <c:pt idx="12">
                  <c:v>17</c:v>
                </c:pt>
                <c:pt idx="13">
                  <c:v>24</c:v>
                </c:pt>
                <c:pt idx="14">
                  <c:v>21</c:v>
                </c:pt>
                <c:pt idx="15">
                  <c:v>30</c:v>
                </c:pt>
                <c:pt idx="16">
                  <c:v>30</c:v>
                </c:pt>
                <c:pt idx="17">
                  <c:v>29</c:v>
                </c:pt>
                <c:pt idx="18">
                  <c:v>25</c:v>
                </c:pt>
                <c:pt idx="19">
                  <c:v>29</c:v>
                </c:pt>
              </c:numCache>
            </c:numRef>
          </c:val>
          <c:extLst>
            <c:ext xmlns:c16="http://schemas.microsoft.com/office/drawing/2014/chart" uri="{C3380CC4-5D6E-409C-BE32-E72D297353CC}">
              <c16:uniqueId val="{00000000-56DD-4D34-9271-DB5AA7813C2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EF"/>
              </a:solidFill>
              <a:prstDash val="solid"/>
              <a:round/>
            </a:ln>
          </c:spPr>
        </c:majorGridlines>
        <c:title>
          <c:tx>
            <c:rich>
              <a:bodyPr/>
              <a:lstStyle/>
              <a:p>
                <a:pPr>
                  <a:defRPr sz="1000" b="0" i="0" u="none" strike="noStrike">
                    <a:solidFill>
                      <a:srgbClr val="5B6B79"/>
                    </a:solidFill>
                    <a:latin typeface="Arial"/>
                  </a:defRPr>
                </a:pPr>
                <a:r>
                  <a:rPr lang="en-US" sz="1000" b="0" i="0" u="none" strike="noStrike">
                    <a:solidFill>
                      <a:srgbClr val="5B6B79"/>
                    </a:solidFill>
                    <a:latin typeface="Arial"/>
                  </a:rPr>
                  <a:t>missing rows / 2500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9"/>
                </a:solidFill>
                <a:latin typeface="Arial"/>
              </a:defRPr>
            </a:pPr>
            <a:endParaRPr lang="en-US"/>
          </a:p>
        </c:txPr>
        <c:crossAx val="2094734554"/>
        <c:crosses val="autoZero"/>
        <c:crossBetween val="between"/>
      </c:valAx>
      <c:spPr>
        <a:solidFill>
          <a:srgbClr val="F7FAFC"/>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c:v>
                </c:pt>
              </c:strCache>
            </c:strRef>
          </c:tx>
          <c:spPr>
            <a:solidFill>
              <a:srgbClr val="065A82"/>
            </a:solidFill>
            <a:effectLst/>
          </c:spPr>
          <c:invertIfNegative val="0"/>
          <c:dLbls>
            <c:numFmt formatCode="0.00" sourceLinked="0"/>
            <c:spPr>
              <a:noFill/>
              <a:ln>
                <a:noFill/>
              </a:ln>
              <a:effectLst/>
            </c:spPr>
            <c:txPr>
              <a:bodyPr/>
              <a:lstStyle/>
              <a:p>
                <a:pPr>
                  <a:defRPr sz="900" b="0" i="0" u="none" strike="noStrike">
                    <a:solidFill>
                      <a:srgbClr val="1A2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x17</c:v>
                </c:pt>
                <c:pt idx="1">
                  <c:v>x16</c:v>
                </c:pt>
                <c:pt idx="2">
                  <c:v>x4</c:v>
                </c:pt>
                <c:pt idx="3">
                  <c:v>x18</c:v>
                </c:pt>
                <c:pt idx="4">
                  <c:v>x10</c:v>
                </c:pt>
                <c:pt idx="5">
                  <c:v>x14</c:v>
                </c:pt>
                <c:pt idx="6">
                  <c:v>x6</c:v>
                </c:pt>
                <c:pt idx="7">
                  <c:v>x13</c:v>
                </c:pt>
                <c:pt idx="8">
                  <c:v>x2</c:v>
                </c:pt>
                <c:pt idx="9">
                  <c:v>x0</c:v>
                </c:pt>
              </c:strCache>
            </c:strRef>
          </c:cat>
          <c:val>
            <c:numRef>
              <c:f>Sheet1!$B$2:$B$11</c:f>
              <c:numCache>
                <c:formatCode>General</c:formatCode>
                <c:ptCount val="10"/>
                <c:pt idx="0">
                  <c:v>0.39100000000000001</c:v>
                </c:pt>
                <c:pt idx="1">
                  <c:v>0.308</c:v>
                </c:pt>
                <c:pt idx="2">
                  <c:v>0.22600000000000001</c:v>
                </c:pt>
                <c:pt idx="3">
                  <c:v>0.159</c:v>
                </c:pt>
                <c:pt idx="4">
                  <c:v>7.0000000000000007E-2</c:v>
                </c:pt>
                <c:pt idx="5">
                  <c:v>-0.153</c:v>
                </c:pt>
                <c:pt idx="6">
                  <c:v>-0.157</c:v>
                </c:pt>
                <c:pt idx="7">
                  <c:v>-0.19500000000000001</c:v>
                </c:pt>
                <c:pt idx="8">
                  <c:v>-0.21199999999999999</c:v>
                </c:pt>
                <c:pt idx="9">
                  <c:v>-0.23400000000000001</c:v>
                </c:pt>
              </c:numCache>
            </c:numRef>
          </c:val>
          <c:extLst>
            <c:ext xmlns:c16="http://schemas.microsoft.com/office/drawing/2014/chart" uri="{C3380CC4-5D6E-409C-BE32-E72D297353CC}">
              <c16:uniqueId val="{00000000-4B55-40A9-A114-4E74B0A0F5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2E8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79"/>
                </a:solidFill>
                <a:latin typeface="Arial"/>
              </a:defRPr>
            </a:pPr>
            <a:endParaRPr lang="en-US"/>
          </a:p>
        </c:txPr>
        <c:crossAx val="2094734554"/>
        <c:crosses val="autoZero"/>
        <c:crossBetween val="between"/>
      </c:valAx>
      <c:spPr>
        <a:solidFill>
          <a:srgbClr val="F7FAFC"/>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693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Lydia, and this is my submission for the Sofia ML Regression 2026 Summer challenge.
the task was to predict a continuous target from 20 anonymized numeric features. After exploring the data and running four different modeling experiments, the winning approach turned out to be the simplest one — plain Linear Regression on mean-imputed features. It beat Ridge regression, degree-2 polynomial features, and a Random Forest, all evaluated with 5-fold cross-validation.
My final model scored 0.541 R² on the Private leaderboard split and 0.571 on Public, which edges past the posted baseline of 0.540 on Private.
The rest of this deck walks through how I got there: the exploratory data analysis, the experiments I ran and why, the final pipeline, and where to find the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what's actually in the data. Both train and test sets have 2,500 rows and 20 numeric features, labeled x0 through x19 — the features themselves carry no meaningful names or units, so this was a purely statistical exercise, not a domain one.
The first thing I checked was missing data. Every single feature has some missing values — roughly 1% of rows, between 15 and 31 missing entries per column, and this pattern holds in both train and test. You can see that in the bar chart on the right: it's fairly uniform across all 20 features, no single column stands out as especially problematic. That uniformity told me a simple imputation strategy, like mean imputation, was a reasonable place to start rather than needing something more elaborate.
The target itself is continuous, roughly symmetric, centered near zero with a mean around 1.8 and a standard deviation of about 149, ranging from about -1215 to +968.
And this is the key finding that shaped my whole approach: both the correlation analysis and later modeling checks pointed to the target being close to a linear combination of the features plus some noise. That insight is what I'll build on for the rest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looked at how each feature correlates with the target individually. This chart shows the top 5 positive and top 5 negative correlations out of all 20 features.
x17 and x16 stand out as the strongest single predictors, with correlations around 0.3 to 0.4 — still far from a strong 1-to-1 relationship. On the negative side, x0 and x2 are the most influential, around -0.2 to -0.23.
The important takeaway here is that no single feature dominates. Nothing exceeds about 0.4 in magnitude. That tells us the target isn't driven by one or two key variables — it's a combination of many features acting together, each contributing a small amount.
This is exactly the kind of pattern multivariate linear regression is built for, so it directly motivated my choice to start with a full linear model using all 20 features, rather than trying to hand-pick a smaller subset.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EDA pointing toward a linear relationship, I ran four experiments, all evaluated the same way — 5-fold cross-validation with R² as the scoring metric, so the comparisons are apples-to-apples.
First, the baseline: plain Linear Regression on mean-imputed features, no regularization, no interaction terms. That scored 0.540 CV R².
Second, I tried Ridge regression with L2 regularization, alpha equal to 1, to see if shrinking the coefficients would help given that some features are correlated with each other. It scored identically at 0.540 — essentially no difference.
Third, I tried degree-2 polynomial features, adding squared terms and pairwise interactions, specifically to test whether there was hidden nonlinearity the plain linear model was missing. That actually performed worse, at 0.453 — likely overfitting given how many extra features that creates relative to only 2,500 training rows.
Fourth, I tried a Random Forest with 300 trees, again to check for nonlinear structure. It also underperformed, at 0.403.
So the pattern across all four experiments was consistent: added complexity didn't help, and in two cases actively hurt performance. That's strong evidence the data-generating process really is close to linear plus noise, and it justified sticking with the simplest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final pipeline I submitted. It's intentionally simple: mean-impute the missing values using statistics learned only from the training set, fit a plain Linear Regression on the full training data, predict on the test set's imputed features, and format the output as the required Id-and-target CSV.
One detail worth calling out for reproducibility: the imputer is fit only on the training data and then applied to the test set using transform, not fit_transform — that avoids any data leakage from the test set into the imputation statistics.
On results: my 5-fold cross-validation R² during training was 0.540. When I submitted to Kaggle, the Public leaderboard score came back at 0.571, and the Private leaderboard — which is calculated on a held-out portion of the test data and is what determines final rankings — came back at 0.541.
That Private score of 0.541 is slightly above the posted baseline of 0.540. It's a modest margin, but it's meaningful: it shows the model is generalizing rather than having overfit to the public portion of the test set, which is exactly the failure mode the competition rules warned us about.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here's where to find everything. The Kaggle notebook has the full EDA and all four experiments, cell by cell, exactly as I ran them. The GitHub repository has that same code plus the PDF of this slide deck, so the whole submission is self-contained and reproducible. And of course there's a link back to the competition itself.
If I had to sum up the whole project in one sentence, it's this: when the underlying data-generating process is close to linear, the winning model is often the simplest one available. My job here wasn't to build something fancy — it was to test that assumption rigorously, with proper cross-validation, and let the evidence rule out the more complex alternatives before committing to the simple one.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8545202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9/8/2026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5175060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659817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8250394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162743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5433128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154222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9/8/2026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9289236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4867881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4803482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9/8/2026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7195378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9/8/2026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8990110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9/8/2026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435686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9/8/2026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038285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9/8/2026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712824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9/8/2026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8681935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6440091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9/8/2026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3658453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8710406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9/8/2026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134033084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0044992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51887564"/>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5330028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152412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4346334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859396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0561340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87011741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8254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9/8/2026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145377124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503920" y="5394960"/>
            <a:ext cx="109728" cy="109728"/>
          </a:xfrm>
          <a:prstGeom prst="ellipse">
            <a:avLst/>
          </a:prstGeom>
          <a:solidFill>
            <a:srgbClr val="9FD3E8"/>
          </a:solidFill>
          <a:ln/>
        </p:spPr>
        <p:txBody>
          <a:bodyPr/>
          <a:lstStyle/>
          <a:p>
            <a:endParaRPr lang="en-US"/>
          </a:p>
        </p:txBody>
      </p:sp>
      <p:sp>
        <p:nvSpPr>
          <p:cNvPr id="3" name="Shape 1"/>
          <p:cNvSpPr/>
          <p:nvPr/>
        </p:nvSpPr>
        <p:spPr>
          <a:xfrm>
            <a:off x="8869680" y="4937760"/>
            <a:ext cx="109728" cy="109728"/>
          </a:xfrm>
          <a:prstGeom prst="ellipse">
            <a:avLst/>
          </a:prstGeom>
          <a:solidFill>
            <a:srgbClr val="9FD3E8"/>
          </a:solidFill>
          <a:ln/>
        </p:spPr>
        <p:txBody>
          <a:bodyPr/>
          <a:lstStyle/>
          <a:p>
            <a:endParaRPr lang="en-US"/>
          </a:p>
        </p:txBody>
      </p:sp>
      <p:sp>
        <p:nvSpPr>
          <p:cNvPr id="4" name="Shape 2"/>
          <p:cNvSpPr/>
          <p:nvPr/>
        </p:nvSpPr>
        <p:spPr>
          <a:xfrm>
            <a:off x="9235440" y="5212080"/>
            <a:ext cx="109728" cy="109728"/>
          </a:xfrm>
          <a:prstGeom prst="ellipse">
            <a:avLst/>
          </a:prstGeom>
          <a:solidFill>
            <a:srgbClr val="9FD3E8"/>
          </a:solidFill>
          <a:ln/>
        </p:spPr>
        <p:txBody>
          <a:bodyPr/>
          <a:lstStyle/>
          <a:p>
            <a:endParaRPr lang="en-US"/>
          </a:p>
        </p:txBody>
      </p:sp>
      <p:sp>
        <p:nvSpPr>
          <p:cNvPr id="5" name="Shape 3"/>
          <p:cNvSpPr/>
          <p:nvPr/>
        </p:nvSpPr>
        <p:spPr>
          <a:xfrm>
            <a:off x="9509760" y="4663440"/>
            <a:ext cx="109728" cy="109728"/>
          </a:xfrm>
          <a:prstGeom prst="ellipse">
            <a:avLst/>
          </a:prstGeom>
          <a:solidFill>
            <a:srgbClr val="9FD3E8"/>
          </a:solidFill>
          <a:ln/>
        </p:spPr>
        <p:txBody>
          <a:bodyPr/>
          <a:lstStyle/>
          <a:p>
            <a:endParaRPr lang="en-US"/>
          </a:p>
        </p:txBody>
      </p:sp>
      <p:sp>
        <p:nvSpPr>
          <p:cNvPr id="6" name="Shape 4"/>
          <p:cNvSpPr/>
          <p:nvPr/>
        </p:nvSpPr>
        <p:spPr>
          <a:xfrm>
            <a:off x="9875520" y="4297680"/>
            <a:ext cx="109728" cy="109728"/>
          </a:xfrm>
          <a:prstGeom prst="ellipse">
            <a:avLst/>
          </a:prstGeom>
          <a:solidFill>
            <a:srgbClr val="9FD3E8"/>
          </a:solidFill>
          <a:ln/>
        </p:spPr>
        <p:txBody>
          <a:bodyPr/>
          <a:lstStyle/>
          <a:p>
            <a:endParaRPr lang="en-US"/>
          </a:p>
        </p:txBody>
      </p:sp>
      <p:sp>
        <p:nvSpPr>
          <p:cNvPr id="7" name="Shape 5"/>
          <p:cNvSpPr/>
          <p:nvPr/>
        </p:nvSpPr>
        <p:spPr>
          <a:xfrm>
            <a:off x="10149840" y="4572000"/>
            <a:ext cx="109728" cy="109728"/>
          </a:xfrm>
          <a:prstGeom prst="ellipse">
            <a:avLst/>
          </a:prstGeom>
          <a:solidFill>
            <a:srgbClr val="9FD3E8"/>
          </a:solidFill>
          <a:ln/>
        </p:spPr>
        <p:txBody>
          <a:bodyPr/>
          <a:lstStyle/>
          <a:p>
            <a:endParaRPr lang="en-US"/>
          </a:p>
        </p:txBody>
      </p:sp>
      <p:sp>
        <p:nvSpPr>
          <p:cNvPr id="8" name="Shape 6"/>
          <p:cNvSpPr/>
          <p:nvPr/>
        </p:nvSpPr>
        <p:spPr>
          <a:xfrm>
            <a:off x="10424160" y="3931920"/>
            <a:ext cx="109728" cy="109728"/>
          </a:xfrm>
          <a:prstGeom prst="ellipse">
            <a:avLst/>
          </a:prstGeom>
          <a:solidFill>
            <a:srgbClr val="9FD3E8"/>
          </a:solidFill>
          <a:ln/>
        </p:spPr>
        <p:txBody>
          <a:bodyPr/>
          <a:lstStyle/>
          <a:p>
            <a:endParaRPr lang="en-US"/>
          </a:p>
        </p:txBody>
      </p:sp>
      <p:sp>
        <p:nvSpPr>
          <p:cNvPr id="9" name="Shape 7"/>
          <p:cNvSpPr/>
          <p:nvPr/>
        </p:nvSpPr>
        <p:spPr>
          <a:xfrm>
            <a:off x="10698480" y="4206240"/>
            <a:ext cx="109728" cy="109728"/>
          </a:xfrm>
          <a:prstGeom prst="ellipse">
            <a:avLst/>
          </a:prstGeom>
          <a:solidFill>
            <a:srgbClr val="9FD3E8"/>
          </a:solidFill>
          <a:ln/>
        </p:spPr>
        <p:txBody>
          <a:bodyPr/>
          <a:lstStyle/>
          <a:p>
            <a:endParaRPr lang="en-US"/>
          </a:p>
        </p:txBody>
      </p:sp>
      <p:sp>
        <p:nvSpPr>
          <p:cNvPr id="10" name="Shape 8"/>
          <p:cNvSpPr/>
          <p:nvPr/>
        </p:nvSpPr>
        <p:spPr>
          <a:xfrm>
            <a:off x="10972800" y="3566160"/>
            <a:ext cx="109728" cy="109728"/>
          </a:xfrm>
          <a:prstGeom prst="ellipse">
            <a:avLst/>
          </a:prstGeom>
          <a:solidFill>
            <a:srgbClr val="9FD3E8"/>
          </a:solidFill>
          <a:ln/>
        </p:spPr>
        <p:txBody>
          <a:bodyPr/>
          <a:lstStyle/>
          <a:p>
            <a:endParaRPr lang="en-US"/>
          </a:p>
        </p:txBody>
      </p:sp>
      <p:sp>
        <p:nvSpPr>
          <p:cNvPr id="11" name="Shape 9"/>
          <p:cNvSpPr/>
          <p:nvPr/>
        </p:nvSpPr>
        <p:spPr>
          <a:xfrm>
            <a:off x="8778240" y="5760720"/>
            <a:ext cx="109728" cy="109728"/>
          </a:xfrm>
          <a:prstGeom prst="ellipse">
            <a:avLst/>
          </a:prstGeom>
          <a:solidFill>
            <a:srgbClr val="9FD3E8"/>
          </a:solidFill>
          <a:ln/>
        </p:spPr>
        <p:txBody>
          <a:bodyPr/>
          <a:lstStyle/>
          <a:p>
            <a:endParaRPr lang="en-US"/>
          </a:p>
        </p:txBody>
      </p:sp>
      <p:sp>
        <p:nvSpPr>
          <p:cNvPr id="12" name="Shape 10"/>
          <p:cNvSpPr/>
          <p:nvPr/>
        </p:nvSpPr>
        <p:spPr>
          <a:xfrm>
            <a:off x="9326880" y="4480560"/>
            <a:ext cx="109728" cy="109728"/>
          </a:xfrm>
          <a:prstGeom prst="ellipse">
            <a:avLst/>
          </a:prstGeom>
          <a:solidFill>
            <a:srgbClr val="9FD3E8"/>
          </a:solidFill>
          <a:ln/>
        </p:spPr>
        <p:txBody>
          <a:bodyPr/>
          <a:lstStyle/>
          <a:p>
            <a:endParaRPr lang="en-US"/>
          </a:p>
        </p:txBody>
      </p:sp>
      <p:sp>
        <p:nvSpPr>
          <p:cNvPr id="13" name="Shape 11"/>
          <p:cNvSpPr/>
          <p:nvPr/>
        </p:nvSpPr>
        <p:spPr>
          <a:xfrm>
            <a:off x="10058400" y="5120640"/>
            <a:ext cx="109728" cy="109728"/>
          </a:xfrm>
          <a:prstGeom prst="ellipse">
            <a:avLst/>
          </a:prstGeom>
          <a:solidFill>
            <a:srgbClr val="9FD3E8"/>
          </a:solidFill>
          <a:ln/>
        </p:spPr>
        <p:txBody>
          <a:bodyPr/>
          <a:lstStyle/>
          <a:p>
            <a:endParaRPr lang="en-US"/>
          </a:p>
        </p:txBody>
      </p:sp>
      <p:sp>
        <p:nvSpPr>
          <p:cNvPr id="14" name="Shape 12"/>
          <p:cNvSpPr/>
          <p:nvPr/>
        </p:nvSpPr>
        <p:spPr>
          <a:xfrm>
            <a:off x="11155680" y="4023360"/>
            <a:ext cx="109728" cy="109728"/>
          </a:xfrm>
          <a:prstGeom prst="ellipse">
            <a:avLst/>
          </a:prstGeom>
          <a:solidFill>
            <a:srgbClr val="9FD3E8"/>
          </a:solidFill>
          <a:ln/>
        </p:spPr>
        <p:txBody>
          <a:bodyPr/>
          <a:lstStyle/>
          <a:p>
            <a:endParaRPr lang="en-US"/>
          </a:p>
        </p:txBody>
      </p:sp>
      <p:sp>
        <p:nvSpPr>
          <p:cNvPr id="15" name="Shape 13"/>
          <p:cNvSpPr/>
          <p:nvPr/>
        </p:nvSpPr>
        <p:spPr>
          <a:xfrm>
            <a:off x="9692640" y="5394960"/>
            <a:ext cx="109728" cy="109728"/>
          </a:xfrm>
          <a:prstGeom prst="ellipse">
            <a:avLst/>
          </a:prstGeom>
          <a:solidFill>
            <a:srgbClr val="9FD3E8"/>
          </a:solidFill>
          <a:ln/>
        </p:spPr>
        <p:txBody>
          <a:bodyPr/>
          <a:lstStyle/>
          <a:p>
            <a:endParaRPr lang="en-US"/>
          </a:p>
        </p:txBody>
      </p:sp>
      <p:sp>
        <p:nvSpPr>
          <p:cNvPr id="16" name="Shape 14"/>
          <p:cNvSpPr/>
          <p:nvPr/>
        </p:nvSpPr>
        <p:spPr>
          <a:xfrm>
            <a:off x="9052560" y="4663440"/>
            <a:ext cx="109728" cy="109728"/>
          </a:xfrm>
          <a:prstGeom prst="ellipse">
            <a:avLst/>
          </a:prstGeom>
          <a:solidFill>
            <a:srgbClr val="9FD3E8"/>
          </a:solidFill>
          <a:ln/>
        </p:spPr>
        <p:txBody>
          <a:bodyPr/>
          <a:lstStyle/>
          <a:p>
            <a:endParaRPr lang="en-US"/>
          </a:p>
        </p:txBody>
      </p:sp>
      <p:sp>
        <p:nvSpPr>
          <p:cNvPr id="17" name="Shape 15"/>
          <p:cNvSpPr/>
          <p:nvPr/>
        </p:nvSpPr>
        <p:spPr>
          <a:xfrm flipV="1">
            <a:off x="8412480" y="3749040"/>
            <a:ext cx="2834640" cy="2103120"/>
          </a:xfrm>
          <a:prstGeom prst="line">
            <a:avLst/>
          </a:prstGeom>
          <a:noFill/>
          <a:ln w="31750">
            <a:solidFill>
              <a:srgbClr val="F2A65A"/>
            </a:solidFill>
            <a:prstDash val="solid"/>
          </a:ln>
        </p:spPr>
        <p:txBody>
          <a:bodyPr/>
          <a:lstStyle/>
          <a:p>
            <a:endParaRPr lang="en-US"/>
          </a:p>
        </p:txBody>
      </p:sp>
      <p:sp>
        <p:nvSpPr>
          <p:cNvPr id="18" name="Text 16"/>
          <p:cNvSpPr/>
          <p:nvPr/>
        </p:nvSpPr>
        <p:spPr>
          <a:xfrm>
            <a:off x="640080" y="822960"/>
            <a:ext cx="7315200" cy="365760"/>
          </a:xfrm>
          <a:prstGeom prst="rect">
            <a:avLst/>
          </a:prstGeom>
          <a:noFill/>
          <a:ln/>
        </p:spPr>
        <p:txBody>
          <a:bodyPr wrap="square" rtlCol="0" anchor="ctr"/>
          <a:lstStyle/>
          <a:p>
            <a:pPr marL="0" indent="0">
              <a:buNone/>
            </a:pPr>
            <a:r>
              <a:rPr lang="en-US" sz="1300" b="1" kern="0" spc="200" dirty="0">
                <a:solidFill>
                  <a:srgbClr val="9FD3E8"/>
                </a:solidFill>
                <a:latin typeface="Calibri" pitchFamily="34" charset="0"/>
                <a:ea typeface="Calibri" pitchFamily="34" charset="-122"/>
                <a:cs typeface="Calibri" pitchFamily="34" charset="-120"/>
              </a:rPr>
              <a:t>SOFIA UNIVERSITY · MSCS2202</a:t>
            </a:r>
            <a:endParaRPr lang="en-US" sz="1300" dirty="0"/>
          </a:p>
        </p:txBody>
      </p:sp>
      <p:sp>
        <p:nvSpPr>
          <p:cNvPr id="19" name="Text 17"/>
          <p:cNvSpPr/>
          <p:nvPr/>
        </p:nvSpPr>
        <p:spPr>
          <a:xfrm>
            <a:off x="640080" y="1234440"/>
            <a:ext cx="7498080" cy="11887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ML Regression</a:t>
            </a:r>
            <a:endParaRPr lang="en-US" sz="4000" dirty="0"/>
          </a:p>
        </p:txBody>
      </p:sp>
      <p:sp>
        <p:nvSpPr>
          <p:cNvPr id="20" name="Text 18"/>
          <p:cNvSpPr/>
          <p:nvPr/>
        </p:nvSpPr>
        <p:spPr>
          <a:xfrm>
            <a:off x="640080" y="2331720"/>
            <a:ext cx="7132320" cy="7315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Predicting a continuous target from 20 anonymized numeric features using cross-validated linear regression.</a:t>
            </a:r>
            <a:endParaRPr lang="en-US" sz="1500" dirty="0"/>
          </a:p>
        </p:txBody>
      </p:sp>
      <p:sp>
        <p:nvSpPr>
          <p:cNvPr id="21" name="Text 19"/>
          <p:cNvSpPr/>
          <p:nvPr/>
        </p:nvSpPr>
        <p:spPr>
          <a:xfrm>
            <a:off x="640080" y="3246120"/>
            <a:ext cx="5486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a:t>
            </a:r>
            <a:r>
              <a:rPr lang="en-US" altLang="zh-CN" sz="1400" b="1" dirty="0">
                <a:solidFill>
                  <a:srgbClr val="FFFFFF"/>
                </a:solidFill>
                <a:latin typeface="Calibri" pitchFamily="34" charset="0"/>
                <a:ea typeface="Calibri" pitchFamily="34" charset="-122"/>
                <a:cs typeface="Calibri" pitchFamily="34" charset="-120"/>
              </a:rPr>
              <a:t>ijia Guo</a:t>
            </a:r>
            <a:endParaRPr lang="en-US" sz="1400" dirty="0"/>
          </a:p>
        </p:txBody>
      </p:sp>
      <p:sp>
        <p:nvSpPr>
          <p:cNvPr id="22" name="Text 20"/>
          <p:cNvSpPr/>
          <p:nvPr/>
        </p:nvSpPr>
        <p:spPr>
          <a:xfrm>
            <a:off x="640080" y="3547872"/>
            <a:ext cx="6858000" cy="320040"/>
          </a:xfrm>
          <a:prstGeom prst="rect">
            <a:avLst/>
          </a:prstGeom>
          <a:noFill/>
          <a:ln/>
        </p:spPr>
        <p:txBody>
          <a:bodyPr wrap="square" rtlCol="0" anchor="ctr"/>
          <a:lstStyle/>
          <a:p>
            <a:pPr marL="0" indent="0">
              <a:buNone/>
            </a:pPr>
            <a:r>
              <a:rPr lang="en-US" sz="1100" dirty="0">
                <a:solidFill>
                  <a:srgbClr val="9FD3E8"/>
                </a:solidFill>
                <a:latin typeface="Calibri" pitchFamily="34" charset="0"/>
                <a:ea typeface="Calibri" pitchFamily="34" charset="-122"/>
                <a:cs typeface="Calibri" pitchFamily="34" charset="-120"/>
              </a:rPr>
              <a:t>Kaggle: Sofia ML Regression 2026 Summer  ·  kaggle.com/t/9c82636ae0924188856c228fadfee148</a:t>
            </a:r>
            <a:endParaRPr lang="en-US" sz="1100" dirty="0"/>
          </a:p>
        </p:txBody>
      </p:sp>
      <p:sp>
        <p:nvSpPr>
          <p:cNvPr id="23" name="Shape 21"/>
          <p:cNvSpPr/>
          <p:nvPr/>
        </p:nvSpPr>
        <p:spPr>
          <a:xfrm>
            <a:off x="640080" y="4160520"/>
            <a:ext cx="1920240" cy="1417320"/>
          </a:xfrm>
          <a:prstGeom prst="roundRect">
            <a:avLst>
              <a:gd name="adj" fmla="val 5161"/>
            </a:avLst>
          </a:prstGeom>
          <a:solidFill>
            <a:srgbClr val="1B2450"/>
          </a:solidFill>
          <a:ln w="12700">
            <a:solidFill>
              <a:srgbClr val="334081"/>
            </a:solidFill>
            <a:prstDash val="solid"/>
          </a:ln>
        </p:spPr>
        <p:txBody>
          <a:bodyPr/>
          <a:lstStyle/>
          <a:p>
            <a:endParaRPr lang="en-US"/>
          </a:p>
        </p:txBody>
      </p:sp>
      <p:sp>
        <p:nvSpPr>
          <p:cNvPr id="24" name="Text 22"/>
          <p:cNvSpPr/>
          <p:nvPr/>
        </p:nvSpPr>
        <p:spPr>
          <a:xfrm>
            <a:off x="640080" y="4279392"/>
            <a:ext cx="1920240" cy="685800"/>
          </a:xfrm>
          <a:prstGeom prst="rect">
            <a:avLst/>
          </a:prstGeom>
          <a:noFill/>
          <a:ln/>
        </p:spPr>
        <p:txBody>
          <a:bodyPr wrap="square" rtlCol="0" anchor="ctr"/>
          <a:lstStyle/>
          <a:p>
            <a:pPr marL="0" indent="0" algn="ctr">
              <a:buNone/>
            </a:pPr>
            <a:r>
              <a:rPr lang="en-US" sz="3000" b="1" dirty="0">
                <a:solidFill>
                  <a:srgbClr val="F2A65A"/>
                </a:solidFill>
                <a:latin typeface="Cambria" pitchFamily="34" charset="0"/>
                <a:ea typeface="Cambria" pitchFamily="34" charset="-122"/>
                <a:cs typeface="Cambria" pitchFamily="34" charset="-120"/>
              </a:rPr>
              <a:t>0.541</a:t>
            </a:r>
            <a:endParaRPr lang="en-US" sz="3000" dirty="0"/>
          </a:p>
        </p:txBody>
      </p:sp>
      <p:sp>
        <p:nvSpPr>
          <p:cNvPr id="25" name="Text 23"/>
          <p:cNvSpPr/>
          <p:nvPr/>
        </p:nvSpPr>
        <p:spPr>
          <a:xfrm>
            <a:off x="640080" y="4956048"/>
            <a:ext cx="1920240" cy="45720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Private R²</a:t>
            </a:r>
            <a:endParaRPr lang="en-US" sz="1100" dirty="0"/>
          </a:p>
        </p:txBody>
      </p:sp>
      <p:sp>
        <p:nvSpPr>
          <p:cNvPr id="26" name="Shape 24"/>
          <p:cNvSpPr/>
          <p:nvPr/>
        </p:nvSpPr>
        <p:spPr>
          <a:xfrm>
            <a:off x="2743200" y="4160520"/>
            <a:ext cx="1920240" cy="1417320"/>
          </a:xfrm>
          <a:prstGeom prst="roundRect">
            <a:avLst>
              <a:gd name="adj" fmla="val 5161"/>
            </a:avLst>
          </a:prstGeom>
          <a:solidFill>
            <a:srgbClr val="1B2450"/>
          </a:solidFill>
          <a:ln w="12700">
            <a:solidFill>
              <a:srgbClr val="334081"/>
            </a:solidFill>
            <a:prstDash val="solid"/>
          </a:ln>
        </p:spPr>
        <p:txBody>
          <a:bodyPr/>
          <a:lstStyle/>
          <a:p>
            <a:endParaRPr lang="en-US"/>
          </a:p>
        </p:txBody>
      </p:sp>
      <p:sp>
        <p:nvSpPr>
          <p:cNvPr id="27" name="Text 25"/>
          <p:cNvSpPr/>
          <p:nvPr/>
        </p:nvSpPr>
        <p:spPr>
          <a:xfrm>
            <a:off x="2743200" y="4279392"/>
            <a:ext cx="1920240" cy="685800"/>
          </a:xfrm>
          <a:prstGeom prst="rect">
            <a:avLst/>
          </a:prstGeom>
          <a:noFill/>
          <a:ln/>
        </p:spPr>
        <p:txBody>
          <a:bodyPr wrap="square" rtlCol="0" anchor="ctr"/>
          <a:lstStyle/>
          <a:p>
            <a:pPr marL="0" indent="0" algn="ctr">
              <a:buNone/>
            </a:pPr>
            <a:r>
              <a:rPr lang="en-US" sz="3000" b="1" dirty="0">
                <a:solidFill>
                  <a:srgbClr val="F2A65A"/>
                </a:solidFill>
                <a:latin typeface="Cambria" pitchFamily="34" charset="0"/>
                <a:ea typeface="Cambria" pitchFamily="34" charset="-122"/>
                <a:cs typeface="Cambria" pitchFamily="34" charset="-120"/>
              </a:rPr>
              <a:t>0.571</a:t>
            </a:r>
            <a:endParaRPr lang="en-US" sz="3000" dirty="0"/>
          </a:p>
        </p:txBody>
      </p:sp>
      <p:sp>
        <p:nvSpPr>
          <p:cNvPr id="28" name="Text 26"/>
          <p:cNvSpPr/>
          <p:nvPr/>
        </p:nvSpPr>
        <p:spPr>
          <a:xfrm>
            <a:off x="2743200" y="4956048"/>
            <a:ext cx="1920240" cy="45720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Public R²</a:t>
            </a:r>
            <a:endParaRPr lang="en-US" sz="1100" dirty="0"/>
          </a:p>
        </p:txBody>
      </p:sp>
      <p:sp>
        <p:nvSpPr>
          <p:cNvPr id="29" name="Shape 27"/>
          <p:cNvSpPr/>
          <p:nvPr/>
        </p:nvSpPr>
        <p:spPr>
          <a:xfrm>
            <a:off x="4846320" y="4160520"/>
            <a:ext cx="1920240" cy="1417320"/>
          </a:xfrm>
          <a:prstGeom prst="roundRect">
            <a:avLst>
              <a:gd name="adj" fmla="val 5161"/>
            </a:avLst>
          </a:prstGeom>
          <a:solidFill>
            <a:srgbClr val="1B2450"/>
          </a:solidFill>
          <a:ln w="12700">
            <a:solidFill>
              <a:srgbClr val="334081"/>
            </a:solidFill>
            <a:prstDash val="solid"/>
          </a:ln>
        </p:spPr>
        <p:txBody>
          <a:bodyPr/>
          <a:lstStyle/>
          <a:p>
            <a:endParaRPr lang="en-US"/>
          </a:p>
        </p:txBody>
      </p:sp>
      <p:sp>
        <p:nvSpPr>
          <p:cNvPr id="30" name="Text 28"/>
          <p:cNvSpPr/>
          <p:nvPr/>
        </p:nvSpPr>
        <p:spPr>
          <a:xfrm>
            <a:off x="4846320" y="4279392"/>
            <a:ext cx="1920240" cy="685800"/>
          </a:xfrm>
          <a:prstGeom prst="rect">
            <a:avLst/>
          </a:prstGeom>
          <a:noFill/>
          <a:ln/>
        </p:spPr>
        <p:txBody>
          <a:bodyPr wrap="square" rtlCol="0" anchor="ctr"/>
          <a:lstStyle/>
          <a:p>
            <a:pPr marL="0" indent="0" algn="ctr">
              <a:buNone/>
            </a:pPr>
            <a:r>
              <a:rPr lang="en-US" sz="3000" b="1" dirty="0">
                <a:solidFill>
                  <a:srgbClr val="F2A65A"/>
                </a:solidFill>
                <a:latin typeface="Cambria" pitchFamily="34" charset="0"/>
                <a:ea typeface="Cambria" pitchFamily="34" charset="-122"/>
                <a:cs typeface="Cambria" pitchFamily="34" charset="-120"/>
              </a:rPr>
              <a:t>0.540</a:t>
            </a:r>
            <a:endParaRPr lang="en-US" sz="3000" dirty="0"/>
          </a:p>
        </p:txBody>
      </p:sp>
      <p:sp>
        <p:nvSpPr>
          <p:cNvPr id="31" name="Text 29"/>
          <p:cNvSpPr/>
          <p:nvPr/>
        </p:nvSpPr>
        <p:spPr>
          <a:xfrm>
            <a:off x="4846320" y="4956048"/>
            <a:ext cx="1920240" cy="45720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Posted Baseline</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(Private R²)</a:t>
            </a:r>
            <a:endParaRPr lang="en-US" sz="1100" dirty="0"/>
          </a:p>
        </p:txBody>
      </p:sp>
      <p:sp>
        <p:nvSpPr>
          <p:cNvPr id="32" name="Text 30"/>
          <p:cNvSpPr/>
          <p:nvPr/>
        </p:nvSpPr>
        <p:spPr>
          <a:xfrm>
            <a:off x="640080" y="5715000"/>
            <a:ext cx="5669280" cy="274320"/>
          </a:xfrm>
          <a:prstGeom prst="rect">
            <a:avLst/>
          </a:prstGeom>
          <a:noFill/>
          <a:ln/>
        </p:spPr>
        <p:txBody>
          <a:bodyPr wrap="square" rtlCol="0" anchor="ctr"/>
          <a:lstStyle/>
          <a:p>
            <a:pPr marL="0" indent="0">
              <a:buNone/>
            </a:pPr>
            <a:r>
              <a:rPr lang="en-US" sz="900" i="1" dirty="0">
                <a:solidFill>
                  <a:srgbClr val="5B6B79"/>
                </a:solidFill>
                <a:latin typeface="Calibri" pitchFamily="34" charset="0"/>
                <a:ea typeface="Calibri" pitchFamily="34" charset="-122"/>
                <a:cs typeface="Calibri" pitchFamily="34" charset="-120"/>
              </a:rPr>
              <a:t>Private score edges past the posted baseline (0.541 vs 0.540)</a:t>
            </a:r>
            <a:endParaRPr lang="en-US" sz="900" dirty="0"/>
          </a:p>
        </p:txBody>
      </p:sp>
      <p:sp>
        <p:nvSpPr>
          <p:cNvPr id="34" name="Text 32"/>
          <p:cNvSpPr/>
          <p:nvPr/>
        </p:nvSpPr>
        <p:spPr>
          <a:xfrm>
            <a:off x="640080" y="6419088"/>
            <a:ext cx="7589520" cy="36576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Mean-imputed a linear-plus-noise dataset, then let simple Linear Regression outperform Ridge, degree-2 polynomial features, and a Random Forest in 5-fold CV — the winning move was restraint, not complexity.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A2333"/>
                </a:solidFill>
                <a:latin typeface="Cambria" pitchFamily="34" charset="0"/>
                <a:ea typeface="Cambria" pitchFamily="34" charset="-122"/>
                <a:cs typeface="Cambria" pitchFamily="34" charset="-120"/>
              </a:rPr>
              <a:t>A clean, anonymized, mildly noisy dataset</a:t>
            </a:r>
            <a:endParaRPr lang="en-US" sz="3000" dirty="0"/>
          </a:p>
        </p:txBody>
      </p:sp>
      <p:sp>
        <p:nvSpPr>
          <p:cNvPr id="4" name="Shape 2"/>
          <p:cNvSpPr/>
          <p:nvPr/>
        </p:nvSpPr>
        <p:spPr>
          <a:xfrm>
            <a:off x="548640" y="1600200"/>
            <a:ext cx="502920" cy="502920"/>
          </a:xfrm>
          <a:prstGeom prst="ellipse">
            <a:avLst/>
          </a:prstGeom>
          <a:solidFill>
            <a:srgbClr val="065A82"/>
          </a:solidFill>
          <a:ln/>
        </p:spPr>
        <p:txBody>
          <a:bodyPr/>
          <a:lstStyle/>
          <a:p>
            <a:endParaRPr lang="en-US"/>
          </a:p>
        </p:txBody>
      </p:sp>
      <p:sp>
        <p:nvSpPr>
          <p:cNvPr id="5" name="Text 3"/>
          <p:cNvSpPr/>
          <p:nvPr/>
        </p:nvSpPr>
        <p:spPr>
          <a:xfrm>
            <a:off x="548640" y="16002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545336"/>
            <a:ext cx="4206240" cy="320040"/>
          </a:xfrm>
          <a:prstGeom prst="rect">
            <a:avLst/>
          </a:prstGeom>
          <a:noFill/>
          <a:ln/>
        </p:spPr>
        <p:txBody>
          <a:bodyPr wrap="square" rtlCol="0" anchor="ctr"/>
          <a:lstStyle/>
          <a:p>
            <a:pPr marL="0" indent="0">
              <a:buNone/>
            </a:pPr>
            <a:r>
              <a:rPr lang="en-US" sz="1500" b="1" dirty="0">
                <a:solidFill>
                  <a:srgbClr val="1A2333"/>
                </a:solidFill>
                <a:latin typeface="Cambria" pitchFamily="34" charset="0"/>
                <a:ea typeface="Cambria" pitchFamily="34" charset="-122"/>
                <a:cs typeface="Cambria" pitchFamily="34" charset="-120"/>
              </a:rPr>
              <a:t>2,500 × 20</a:t>
            </a:r>
            <a:endParaRPr lang="en-US" sz="1500" dirty="0"/>
          </a:p>
        </p:txBody>
      </p:sp>
      <p:sp>
        <p:nvSpPr>
          <p:cNvPr id="7" name="Text 5"/>
          <p:cNvSpPr/>
          <p:nvPr/>
        </p:nvSpPr>
        <p:spPr>
          <a:xfrm>
            <a:off x="1234440" y="1856232"/>
            <a:ext cx="4297680" cy="594360"/>
          </a:xfrm>
          <a:prstGeom prst="rect">
            <a:avLst/>
          </a:prstGeom>
          <a:noFill/>
          <a:ln/>
        </p:spPr>
        <p:txBody>
          <a:bodyPr wrap="square" rtlCol="0" anchor="ctr"/>
          <a:lstStyle/>
          <a:p>
            <a:pPr marL="0" indent="0">
              <a:buNone/>
            </a:pPr>
            <a:r>
              <a:rPr lang="en-US" sz="1100" dirty="0">
                <a:solidFill>
                  <a:srgbClr val="5B6B79"/>
                </a:solidFill>
                <a:latin typeface="Calibri" pitchFamily="34" charset="0"/>
                <a:ea typeface="Calibri" pitchFamily="34" charset="-122"/>
                <a:cs typeface="Calibri" pitchFamily="34" charset="-120"/>
              </a:rPr>
              <a:t>Rows and unlabeled numeric features (x0–x19) in both train and test sets.</a:t>
            </a:r>
            <a:endParaRPr lang="en-US" sz="1100" dirty="0"/>
          </a:p>
        </p:txBody>
      </p:sp>
      <p:sp>
        <p:nvSpPr>
          <p:cNvPr id="8" name="Shape 6"/>
          <p:cNvSpPr/>
          <p:nvPr/>
        </p:nvSpPr>
        <p:spPr>
          <a:xfrm>
            <a:off x="548640" y="2715768"/>
            <a:ext cx="502920" cy="502920"/>
          </a:xfrm>
          <a:prstGeom prst="ellipse">
            <a:avLst/>
          </a:prstGeom>
          <a:solidFill>
            <a:srgbClr val="065A82"/>
          </a:solidFill>
          <a:ln/>
        </p:spPr>
        <p:txBody>
          <a:bodyPr/>
          <a:lstStyle/>
          <a:p>
            <a:endParaRPr lang="en-US"/>
          </a:p>
        </p:txBody>
      </p:sp>
      <p:sp>
        <p:nvSpPr>
          <p:cNvPr id="9" name="Text 7"/>
          <p:cNvSpPr/>
          <p:nvPr/>
        </p:nvSpPr>
        <p:spPr>
          <a:xfrm>
            <a:off x="548640" y="2715768"/>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Δ</a:t>
            </a:r>
            <a:endParaRPr lang="en-US" sz="1800" dirty="0"/>
          </a:p>
        </p:txBody>
      </p:sp>
      <p:sp>
        <p:nvSpPr>
          <p:cNvPr id="10" name="Text 8"/>
          <p:cNvSpPr/>
          <p:nvPr/>
        </p:nvSpPr>
        <p:spPr>
          <a:xfrm>
            <a:off x="1234440" y="2660904"/>
            <a:ext cx="4206240" cy="320040"/>
          </a:xfrm>
          <a:prstGeom prst="rect">
            <a:avLst/>
          </a:prstGeom>
          <a:noFill/>
          <a:ln/>
        </p:spPr>
        <p:txBody>
          <a:bodyPr wrap="square" rtlCol="0" anchor="ctr"/>
          <a:lstStyle/>
          <a:p>
            <a:pPr marL="0" indent="0">
              <a:buNone/>
            </a:pPr>
            <a:r>
              <a:rPr lang="en-US" sz="1500" b="1" dirty="0">
                <a:solidFill>
                  <a:srgbClr val="1A2333"/>
                </a:solidFill>
                <a:latin typeface="Cambria" pitchFamily="34" charset="0"/>
                <a:ea typeface="Cambria" pitchFamily="34" charset="-122"/>
                <a:cs typeface="Cambria" pitchFamily="34" charset="-120"/>
              </a:rPr>
              <a:t>~1% missing</a:t>
            </a:r>
            <a:endParaRPr lang="en-US" sz="1500" dirty="0"/>
          </a:p>
        </p:txBody>
      </p:sp>
      <p:sp>
        <p:nvSpPr>
          <p:cNvPr id="11" name="Text 9"/>
          <p:cNvSpPr/>
          <p:nvPr/>
        </p:nvSpPr>
        <p:spPr>
          <a:xfrm>
            <a:off x="1234440" y="2971800"/>
            <a:ext cx="4297680" cy="594360"/>
          </a:xfrm>
          <a:prstGeom prst="rect">
            <a:avLst/>
          </a:prstGeom>
          <a:noFill/>
          <a:ln/>
        </p:spPr>
        <p:txBody>
          <a:bodyPr wrap="square" rtlCol="0" anchor="ctr"/>
          <a:lstStyle/>
          <a:p>
            <a:pPr marL="0" indent="0">
              <a:buNone/>
            </a:pPr>
            <a:r>
              <a:rPr lang="en-US" sz="1100" dirty="0">
                <a:solidFill>
                  <a:srgbClr val="5B6B79"/>
                </a:solidFill>
                <a:latin typeface="Calibri" pitchFamily="34" charset="0"/>
                <a:ea typeface="Calibri" pitchFamily="34" charset="-122"/>
                <a:cs typeface="Calibri" pitchFamily="34" charset="-120"/>
              </a:rPr>
              <a:t>Every feature has a scattering of missing values (15–31 rows) in train and test alike.</a:t>
            </a:r>
            <a:endParaRPr lang="en-US" sz="1100" dirty="0"/>
          </a:p>
        </p:txBody>
      </p:sp>
      <p:sp>
        <p:nvSpPr>
          <p:cNvPr id="12" name="Shape 10"/>
          <p:cNvSpPr/>
          <p:nvPr/>
        </p:nvSpPr>
        <p:spPr>
          <a:xfrm>
            <a:off x="548640" y="3831336"/>
            <a:ext cx="502920" cy="502920"/>
          </a:xfrm>
          <a:prstGeom prst="ellipse">
            <a:avLst/>
          </a:prstGeom>
          <a:solidFill>
            <a:srgbClr val="065A82"/>
          </a:solidFill>
          <a:ln/>
        </p:spPr>
        <p:txBody>
          <a:bodyPr/>
          <a:lstStyle/>
          <a:p>
            <a:endParaRPr lang="en-US"/>
          </a:p>
        </p:txBody>
      </p:sp>
      <p:sp>
        <p:nvSpPr>
          <p:cNvPr id="13" name="Text 11"/>
          <p:cNvSpPr/>
          <p:nvPr/>
        </p:nvSpPr>
        <p:spPr>
          <a:xfrm>
            <a:off x="548640" y="3831336"/>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4" name="Text 12"/>
          <p:cNvSpPr/>
          <p:nvPr/>
        </p:nvSpPr>
        <p:spPr>
          <a:xfrm>
            <a:off x="1234440" y="3776472"/>
            <a:ext cx="4206240" cy="320040"/>
          </a:xfrm>
          <a:prstGeom prst="rect">
            <a:avLst/>
          </a:prstGeom>
          <a:noFill/>
          <a:ln/>
        </p:spPr>
        <p:txBody>
          <a:bodyPr wrap="square" rtlCol="0" anchor="ctr"/>
          <a:lstStyle/>
          <a:p>
            <a:pPr marL="0" indent="0">
              <a:buNone/>
            </a:pPr>
            <a:r>
              <a:rPr lang="en-US" sz="1500" b="1" dirty="0">
                <a:solidFill>
                  <a:srgbClr val="1A2333"/>
                </a:solidFill>
                <a:latin typeface="Cambria" pitchFamily="34" charset="0"/>
                <a:ea typeface="Cambria" pitchFamily="34" charset="-122"/>
                <a:cs typeface="Cambria" pitchFamily="34" charset="-120"/>
              </a:rPr>
              <a:t>target ≈ N(1.8, 149)</a:t>
            </a:r>
            <a:endParaRPr lang="en-US" sz="1500" dirty="0"/>
          </a:p>
        </p:txBody>
      </p:sp>
      <p:sp>
        <p:nvSpPr>
          <p:cNvPr id="15" name="Text 13"/>
          <p:cNvSpPr/>
          <p:nvPr/>
        </p:nvSpPr>
        <p:spPr>
          <a:xfrm>
            <a:off x="1234440" y="4087368"/>
            <a:ext cx="4297680" cy="594360"/>
          </a:xfrm>
          <a:prstGeom prst="rect">
            <a:avLst/>
          </a:prstGeom>
          <a:noFill/>
          <a:ln/>
        </p:spPr>
        <p:txBody>
          <a:bodyPr wrap="square" rtlCol="0" anchor="ctr"/>
          <a:lstStyle/>
          <a:p>
            <a:pPr marL="0" indent="0">
              <a:buNone/>
            </a:pPr>
            <a:r>
              <a:rPr lang="en-US" sz="1100" dirty="0">
                <a:solidFill>
                  <a:srgbClr val="5B6B79"/>
                </a:solidFill>
                <a:latin typeface="Calibri" pitchFamily="34" charset="0"/>
                <a:ea typeface="Calibri" pitchFamily="34" charset="-122"/>
                <a:cs typeface="Calibri" pitchFamily="34" charset="-120"/>
              </a:rPr>
              <a:t>Continuous, roughly symmetric target ranging from −1215 to +968.</a:t>
            </a:r>
            <a:endParaRPr lang="en-US" sz="1100" dirty="0"/>
          </a:p>
        </p:txBody>
      </p:sp>
      <p:sp>
        <p:nvSpPr>
          <p:cNvPr id="16" name="Shape 14"/>
          <p:cNvSpPr/>
          <p:nvPr/>
        </p:nvSpPr>
        <p:spPr>
          <a:xfrm>
            <a:off x="548640" y="4946904"/>
            <a:ext cx="502920" cy="502920"/>
          </a:xfrm>
          <a:prstGeom prst="ellipse">
            <a:avLst/>
          </a:prstGeom>
          <a:solidFill>
            <a:srgbClr val="065A82"/>
          </a:solidFill>
          <a:ln/>
        </p:spPr>
        <p:txBody>
          <a:bodyPr/>
          <a:lstStyle/>
          <a:p>
            <a:endParaRPr lang="en-US"/>
          </a:p>
        </p:txBody>
      </p:sp>
      <p:sp>
        <p:nvSpPr>
          <p:cNvPr id="17" name="Text 15"/>
          <p:cNvSpPr/>
          <p:nvPr/>
        </p:nvSpPr>
        <p:spPr>
          <a:xfrm>
            <a:off x="548640" y="4946904"/>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234440" y="4892040"/>
            <a:ext cx="4206240" cy="320040"/>
          </a:xfrm>
          <a:prstGeom prst="rect">
            <a:avLst/>
          </a:prstGeom>
          <a:noFill/>
          <a:ln/>
        </p:spPr>
        <p:txBody>
          <a:bodyPr wrap="square" rtlCol="0" anchor="ctr"/>
          <a:lstStyle/>
          <a:p>
            <a:pPr marL="0" indent="0">
              <a:buNone/>
            </a:pPr>
            <a:r>
              <a:rPr lang="en-US" sz="1500" b="1" dirty="0">
                <a:solidFill>
                  <a:srgbClr val="1A2333"/>
                </a:solidFill>
                <a:latin typeface="Cambria" pitchFamily="34" charset="0"/>
                <a:ea typeface="Cambria" pitchFamily="34" charset="-122"/>
                <a:cs typeface="Cambria" pitchFamily="34" charset="-120"/>
              </a:rPr>
              <a:t>Near-linear signal</a:t>
            </a:r>
            <a:endParaRPr lang="en-US" sz="1500" dirty="0"/>
          </a:p>
        </p:txBody>
      </p:sp>
      <p:sp>
        <p:nvSpPr>
          <p:cNvPr id="19" name="Text 17"/>
          <p:cNvSpPr/>
          <p:nvPr/>
        </p:nvSpPr>
        <p:spPr>
          <a:xfrm>
            <a:off x="1234440" y="5202936"/>
            <a:ext cx="4297680" cy="594360"/>
          </a:xfrm>
          <a:prstGeom prst="rect">
            <a:avLst/>
          </a:prstGeom>
          <a:noFill/>
          <a:ln/>
        </p:spPr>
        <p:txBody>
          <a:bodyPr wrap="square" rtlCol="0" anchor="ctr"/>
          <a:lstStyle/>
          <a:p>
            <a:pPr marL="0" indent="0">
              <a:buNone/>
            </a:pPr>
            <a:r>
              <a:rPr lang="en-US" sz="1100" dirty="0">
                <a:solidFill>
                  <a:srgbClr val="5B6B79"/>
                </a:solidFill>
                <a:latin typeface="Calibri" pitchFamily="34" charset="0"/>
                <a:ea typeface="Calibri" pitchFamily="34" charset="-122"/>
                <a:cs typeface="Calibri" pitchFamily="34" charset="-120"/>
              </a:rPr>
              <a:t>Correlation and modeling checks both point to target ≈ linear combination of features + noise.</a:t>
            </a:r>
            <a:endParaRPr lang="en-US" sz="1100" dirty="0"/>
          </a:p>
        </p:txBody>
      </p:sp>
      <p:sp>
        <p:nvSpPr>
          <p:cNvPr id="20" name="Text 18"/>
          <p:cNvSpPr/>
          <p:nvPr/>
        </p:nvSpPr>
        <p:spPr>
          <a:xfrm>
            <a:off x="5806440" y="1417320"/>
            <a:ext cx="5760720" cy="274320"/>
          </a:xfrm>
          <a:prstGeom prst="rect">
            <a:avLst/>
          </a:prstGeom>
          <a:noFill/>
          <a:ln/>
        </p:spPr>
        <p:txBody>
          <a:bodyPr wrap="square" rtlCol="0" anchor="ctr"/>
          <a:lstStyle/>
          <a:p>
            <a:pPr marL="0" indent="0">
              <a:buNone/>
            </a:pPr>
            <a:r>
              <a:rPr lang="en-US" sz="1200" b="1" dirty="0">
                <a:solidFill>
                  <a:srgbClr val="1A2333"/>
                </a:solidFill>
                <a:latin typeface="Calibri" pitchFamily="34" charset="0"/>
                <a:ea typeface="Calibri" pitchFamily="34" charset="-122"/>
                <a:cs typeface="Calibri" pitchFamily="34" charset="-120"/>
              </a:rPr>
              <a:t>Missing values per feature (train)</a:t>
            </a:r>
            <a:endParaRPr lang="en-US" sz="1200" dirty="0"/>
          </a:p>
        </p:txBody>
      </p:sp>
      <p:graphicFrame>
        <p:nvGraphicFramePr>
          <p:cNvPr id="21" name="Chart 0"/>
          <p:cNvGraphicFramePr/>
          <p:nvPr/>
        </p:nvGraphicFramePr>
        <p:xfrm>
          <a:off x="5669280" y="1737360"/>
          <a:ext cx="59436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 1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A2333"/>
                </a:solidFill>
                <a:latin typeface="Cambria" pitchFamily="34" charset="0"/>
                <a:ea typeface="Cambria" pitchFamily="34" charset="-122"/>
                <a:cs typeface="Cambria" pitchFamily="34" charset="-120"/>
              </a:rPr>
              <a:t>Which features move the target most?</a:t>
            </a:r>
            <a:endParaRPr lang="en-US" sz="3000" dirty="0"/>
          </a:p>
        </p:txBody>
      </p:sp>
      <p:sp>
        <p:nvSpPr>
          <p:cNvPr id="4" name="Text 2"/>
          <p:cNvSpPr/>
          <p:nvPr/>
        </p:nvSpPr>
        <p:spPr>
          <a:xfrm>
            <a:off x="548640" y="1371600"/>
            <a:ext cx="8229600" cy="320040"/>
          </a:xfrm>
          <a:prstGeom prst="rect">
            <a:avLst/>
          </a:prstGeom>
          <a:noFill/>
          <a:ln/>
        </p:spPr>
        <p:txBody>
          <a:bodyPr wrap="square" rtlCol="0" anchor="ctr"/>
          <a:lstStyle/>
          <a:p>
            <a:pPr marL="0" indent="0">
              <a:buNone/>
            </a:pPr>
            <a:r>
              <a:rPr lang="en-US" sz="1200" dirty="0">
                <a:solidFill>
                  <a:srgbClr val="5B6B79"/>
                </a:solidFill>
                <a:latin typeface="Calibri" pitchFamily="34" charset="0"/>
                <a:ea typeface="Calibri" pitchFamily="34" charset="-122"/>
                <a:cs typeface="Calibri" pitchFamily="34" charset="-120"/>
              </a:rPr>
              <a:t>Pearson correlation with target — top 5 positive and top 5 negative features</a:t>
            </a:r>
            <a:endParaRPr lang="en-US" sz="1200" dirty="0"/>
          </a:p>
        </p:txBody>
      </p:sp>
      <p:graphicFrame>
        <p:nvGraphicFramePr>
          <p:cNvPr id="5" name="Chart 0"/>
          <p:cNvGraphicFramePr/>
          <p:nvPr/>
        </p:nvGraphicFramePr>
        <p:xfrm>
          <a:off x="548640" y="1828800"/>
          <a:ext cx="73152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229600" y="1828800"/>
            <a:ext cx="3383280" cy="4297680"/>
          </a:xfrm>
          <a:prstGeom prst="roundRect">
            <a:avLst>
              <a:gd name="adj" fmla="val 2703"/>
            </a:avLst>
          </a:prstGeom>
          <a:solidFill>
            <a:srgbClr val="FFFFFF"/>
          </a:solidFill>
          <a:ln w="12700">
            <a:solidFill>
              <a:srgbClr val="E2E8EF"/>
            </a:solidFill>
            <a:prstDash val="solid"/>
          </a:ln>
        </p:spPr>
        <p:txBody>
          <a:bodyPr/>
          <a:lstStyle/>
          <a:p>
            <a:endParaRPr lang="en-US"/>
          </a:p>
        </p:txBody>
      </p:sp>
      <p:sp>
        <p:nvSpPr>
          <p:cNvPr id="7" name="Text 4"/>
          <p:cNvSpPr/>
          <p:nvPr/>
        </p:nvSpPr>
        <p:spPr>
          <a:xfrm>
            <a:off x="8503920" y="2057400"/>
            <a:ext cx="2834640" cy="320040"/>
          </a:xfrm>
          <a:prstGeom prst="rect">
            <a:avLst/>
          </a:prstGeom>
          <a:noFill/>
          <a:ln/>
        </p:spPr>
        <p:txBody>
          <a:bodyPr wrap="square" rtlCol="0" anchor="ctr"/>
          <a:lstStyle/>
          <a:p>
            <a:pPr marL="0" indent="0">
              <a:buNone/>
            </a:pPr>
            <a:r>
              <a:rPr lang="en-US" sz="1400" b="1" dirty="0">
                <a:solidFill>
                  <a:srgbClr val="1A2333"/>
                </a:solidFill>
                <a:latin typeface="Cambria" pitchFamily="34" charset="0"/>
                <a:ea typeface="Cambria" pitchFamily="34" charset="-122"/>
                <a:cs typeface="Cambria" pitchFamily="34" charset="-120"/>
              </a:rPr>
              <a:t>Reading the chart</a:t>
            </a:r>
            <a:endParaRPr lang="en-US" sz="1400" dirty="0"/>
          </a:p>
        </p:txBody>
      </p:sp>
      <p:sp>
        <p:nvSpPr>
          <p:cNvPr id="8" name="Text 5"/>
          <p:cNvSpPr/>
          <p:nvPr/>
        </p:nvSpPr>
        <p:spPr>
          <a:xfrm>
            <a:off x="8503920" y="2468880"/>
            <a:ext cx="2834640" cy="3474720"/>
          </a:xfrm>
          <a:prstGeom prst="rect">
            <a:avLst/>
          </a:prstGeom>
          <a:noFill/>
          <a:ln/>
        </p:spPr>
        <p:txBody>
          <a:bodyPr wrap="square" rtlCol="0" anchor="t"/>
          <a:lstStyle/>
          <a:p>
            <a:pPr marL="0" indent="0">
              <a:buNone/>
            </a:pPr>
            <a:r>
              <a:rPr lang="en-US" sz="1150" dirty="0">
                <a:solidFill>
                  <a:srgbClr val="5B6B79"/>
                </a:solidFill>
                <a:latin typeface="Calibri" pitchFamily="34" charset="0"/>
                <a:ea typeface="Calibri" pitchFamily="34" charset="-122"/>
                <a:cs typeface="Calibri" pitchFamily="34" charset="-120"/>
              </a:rPr>
              <a:t>x17 and x16 are the strongest single predictors (|r| ≈ 0.3–0.4).
No feature exceeds |r| ≈ 0.4 alone — the target depends on a </a:t>
            </a:r>
            <a:r>
              <a:rPr lang="en-US" sz="1150" b="1" dirty="0">
                <a:solidFill>
                  <a:srgbClr val="065A82"/>
                </a:solidFill>
                <a:latin typeface="Calibri" pitchFamily="34" charset="0"/>
                <a:ea typeface="Calibri" pitchFamily="34" charset="-122"/>
                <a:cs typeface="Calibri" pitchFamily="34" charset="-120"/>
              </a:rPr>
              <a:t>combination</a:t>
            </a:r>
            <a:r>
              <a:rPr lang="en-US" sz="1150" dirty="0">
                <a:solidFill>
                  <a:srgbClr val="5B6B79"/>
                </a:solidFill>
                <a:latin typeface="Calibri" pitchFamily="34" charset="0"/>
                <a:ea typeface="Calibri" pitchFamily="34" charset="-122"/>
                <a:cs typeface="Calibri" pitchFamily="34" charset="-120"/>
              </a:rPr>
              <a:t> of features, not one dominant column.
This motivated testing multivariate linear models before anything more complex.</a:t>
            </a:r>
            <a:endParaRPr lang="en-US" sz="1150" dirty="0"/>
          </a:p>
        </p:txBody>
      </p:sp>
      <p:sp>
        <p:nvSpPr>
          <p:cNvPr id="10" name="Text 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EXPERIMENTS &amp; MOTIVATION</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A2333"/>
                </a:solidFill>
                <a:latin typeface="Cambria" pitchFamily="34" charset="0"/>
                <a:ea typeface="Cambria" pitchFamily="34" charset="-122"/>
                <a:cs typeface="Cambria" pitchFamily="34" charset="-120"/>
              </a:rPr>
              <a:t>Four approaches, evaluated with 5-fold CV</a:t>
            </a:r>
            <a:endParaRPr lang="en-US" sz="3000" dirty="0"/>
          </a:p>
        </p:txBody>
      </p:sp>
      <p:sp>
        <p:nvSpPr>
          <p:cNvPr id="4" name="Shape 2"/>
          <p:cNvSpPr/>
          <p:nvPr/>
        </p:nvSpPr>
        <p:spPr>
          <a:xfrm>
            <a:off x="548640" y="1554480"/>
            <a:ext cx="2651760" cy="2834640"/>
          </a:xfrm>
          <a:prstGeom prst="roundRect">
            <a:avLst>
              <a:gd name="adj" fmla="val 2759"/>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731520" y="1737360"/>
            <a:ext cx="2286000" cy="54864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Linear Regression</a:t>
            </a:r>
            <a:endParaRPr lang="en-US" sz="1400" dirty="0"/>
          </a:p>
        </p:txBody>
      </p:sp>
      <p:sp>
        <p:nvSpPr>
          <p:cNvPr id="6" name="Text 4"/>
          <p:cNvSpPr/>
          <p:nvPr/>
        </p:nvSpPr>
        <p:spPr>
          <a:xfrm>
            <a:off x="731520" y="2331720"/>
            <a:ext cx="2286000" cy="1371600"/>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Baseline: mean-imputed features, no regularization, no interactions.</a:t>
            </a:r>
            <a:endParaRPr lang="en-US" sz="1050" dirty="0"/>
          </a:p>
        </p:txBody>
      </p:sp>
      <p:sp>
        <p:nvSpPr>
          <p:cNvPr id="7" name="Text 5"/>
          <p:cNvSpPr/>
          <p:nvPr/>
        </p:nvSpPr>
        <p:spPr>
          <a:xfrm>
            <a:off x="731520" y="3703320"/>
            <a:ext cx="2286000" cy="457200"/>
          </a:xfrm>
          <a:prstGeom prst="rect">
            <a:avLst/>
          </a:prstGeom>
          <a:noFill/>
          <a:ln/>
        </p:spPr>
        <p:txBody>
          <a:bodyPr wrap="square"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0.540</a:t>
            </a:r>
            <a:endParaRPr lang="en-US" sz="2200" dirty="0"/>
          </a:p>
        </p:txBody>
      </p:sp>
      <p:sp>
        <p:nvSpPr>
          <p:cNvPr id="8" name="Text 6"/>
          <p:cNvSpPr/>
          <p:nvPr/>
        </p:nvSpPr>
        <p:spPr>
          <a:xfrm>
            <a:off x="731520" y="4114800"/>
            <a:ext cx="2286000" cy="2286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CV R²</a:t>
            </a:r>
            <a:endParaRPr lang="en-US" sz="900" dirty="0"/>
          </a:p>
        </p:txBody>
      </p:sp>
      <p:sp>
        <p:nvSpPr>
          <p:cNvPr id="9" name="Shape 7"/>
          <p:cNvSpPr/>
          <p:nvPr/>
        </p:nvSpPr>
        <p:spPr>
          <a:xfrm>
            <a:off x="3337560" y="1554480"/>
            <a:ext cx="2651760" cy="2834640"/>
          </a:xfrm>
          <a:prstGeom prst="roundRect">
            <a:avLst>
              <a:gd name="adj" fmla="val 2759"/>
            </a:avLst>
          </a:prstGeom>
          <a:solidFill>
            <a:srgbClr val="FFFFFF"/>
          </a:solidFill>
          <a:ln w="12700">
            <a:solidFill>
              <a:srgbClr val="E2E8EF"/>
            </a:solidFill>
            <a:prstDash val="solid"/>
          </a:ln>
        </p:spPr>
        <p:txBody>
          <a:bodyPr/>
          <a:lstStyle/>
          <a:p>
            <a:endParaRPr lang="en-US"/>
          </a:p>
        </p:txBody>
      </p:sp>
      <p:sp>
        <p:nvSpPr>
          <p:cNvPr id="10" name="Text 8"/>
          <p:cNvSpPr/>
          <p:nvPr/>
        </p:nvSpPr>
        <p:spPr>
          <a:xfrm>
            <a:off x="3520440" y="1737360"/>
            <a:ext cx="2286000" cy="548640"/>
          </a:xfrm>
          <a:prstGeom prst="rect">
            <a:avLst/>
          </a:prstGeom>
          <a:noFill/>
          <a:ln/>
        </p:spPr>
        <p:txBody>
          <a:bodyPr wrap="square" rtlCol="0" anchor="ctr"/>
          <a:lstStyle/>
          <a:p>
            <a:pPr marL="0" indent="0">
              <a:buNone/>
            </a:pPr>
            <a:r>
              <a:rPr lang="en-US" sz="1400" b="1" dirty="0">
                <a:solidFill>
                  <a:srgbClr val="1A2333"/>
                </a:solidFill>
                <a:latin typeface="Cambria" pitchFamily="34" charset="0"/>
                <a:ea typeface="Cambria" pitchFamily="34" charset="-122"/>
                <a:cs typeface="Cambria" pitchFamily="34" charset="-120"/>
              </a:rPr>
              <a:t>Ridge (L2)</a:t>
            </a:r>
            <a:endParaRPr lang="en-US" sz="1400" dirty="0"/>
          </a:p>
        </p:txBody>
      </p:sp>
      <p:sp>
        <p:nvSpPr>
          <p:cNvPr id="11" name="Text 9"/>
          <p:cNvSpPr/>
          <p:nvPr/>
        </p:nvSpPr>
        <p:spPr>
          <a:xfrm>
            <a:off x="3520440" y="2331720"/>
            <a:ext cx="2286000" cy="1371600"/>
          </a:xfrm>
          <a:prstGeom prst="rect">
            <a:avLst/>
          </a:prstGeom>
          <a:noFill/>
          <a:ln/>
        </p:spPr>
        <p:txBody>
          <a:bodyPr wrap="square" rtlCol="0" anchor="ctr"/>
          <a:lstStyle/>
          <a:p>
            <a:pPr marL="0" indent="0">
              <a:buNone/>
            </a:pPr>
            <a:r>
              <a:rPr lang="en-US" sz="1050" dirty="0">
                <a:solidFill>
                  <a:srgbClr val="5B6B79"/>
                </a:solidFill>
                <a:latin typeface="Calibri" pitchFamily="34" charset="0"/>
                <a:ea typeface="Calibri" pitchFamily="34" charset="-122"/>
                <a:cs typeface="Calibri" pitchFamily="34" charset="-120"/>
              </a:rPr>
              <a:t>Tested alpha=1.0 to see if shrinkage helps given noisy, correlated features.</a:t>
            </a:r>
            <a:endParaRPr lang="en-US" sz="1050" dirty="0"/>
          </a:p>
        </p:txBody>
      </p:sp>
      <p:sp>
        <p:nvSpPr>
          <p:cNvPr id="12" name="Text 10"/>
          <p:cNvSpPr/>
          <p:nvPr/>
        </p:nvSpPr>
        <p:spPr>
          <a:xfrm>
            <a:off x="3520440" y="3703320"/>
            <a:ext cx="2286000" cy="45720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0.540</a:t>
            </a:r>
            <a:endParaRPr lang="en-US" sz="2200" dirty="0"/>
          </a:p>
        </p:txBody>
      </p:sp>
      <p:sp>
        <p:nvSpPr>
          <p:cNvPr id="13" name="Text 11"/>
          <p:cNvSpPr/>
          <p:nvPr/>
        </p:nvSpPr>
        <p:spPr>
          <a:xfrm>
            <a:off x="3520440" y="4114800"/>
            <a:ext cx="2286000" cy="228600"/>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CV R²</a:t>
            </a:r>
            <a:endParaRPr lang="en-US" sz="900" dirty="0"/>
          </a:p>
        </p:txBody>
      </p:sp>
      <p:sp>
        <p:nvSpPr>
          <p:cNvPr id="14" name="Shape 12"/>
          <p:cNvSpPr/>
          <p:nvPr/>
        </p:nvSpPr>
        <p:spPr>
          <a:xfrm>
            <a:off x="6126480" y="1554480"/>
            <a:ext cx="2651760" cy="2834640"/>
          </a:xfrm>
          <a:prstGeom prst="roundRect">
            <a:avLst>
              <a:gd name="adj" fmla="val 2759"/>
            </a:avLst>
          </a:prstGeom>
          <a:solidFill>
            <a:srgbClr val="FFFFFF"/>
          </a:solidFill>
          <a:ln w="12700">
            <a:solidFill>
              <a:srgbClr val="E2E8EF"/>
            </a:solidFill>
            <a:prstDash val="solid"/>
          </a:ln>
        </p:spPr>
        <p:txBody>
          <a:bodyPr/>
          <a:lstStyle/>
          <a:p>
            <a:endParaRPr lang="en-US"/>
          </a:p>
        </p:txBody>
      </p:sp>
      <p:sp>
        <p:nvSpPr>
          <p:cNvPr id="15" name="Text 13"/>
          <p:cNvSpPr/>
          <p:nvPr/>
        </p:nvSpPr>
        <p:spPr>
          <a:xfrm>
            <a:off x="6309360" y="1737360"/>
            <a:ext cx="2286000" cy="548640"/>
          </a:xfrm>
          <a:prstGeom prst="rect">
            <a:avLst/>
          </a:prstGeom>
          <a:noFill/>
          <a:ln/>
        </p:spPr>
        <p:txBody>
          <a:bodyPr wrap="square" rtlCol="0" anchor="ctr"/>
          <a:lstStyle/>
          <a:p>
            <a:pPr marL="0" indent="0">
              <a:buNone/>
            </a:pPr>
            <a:r>
              <a:rPr lang="en-US" sz="1400" b="1" dirty="0">
                <a:solidFill>
                  <a:srgbClr val="1A2333"/>
                </a:solidFill>
                <a:latin typeface="Cambria" pitchFamily="34" charset="0"/>
                <a:ea typeface="Cambria" pitchFamily="34" charset="-122"/>
                <a:cs typeface="Cambria" pitchFamily="34" charset="-120"/>
              </a:rPr>
              <a:t>Polynomial (deg. 2)</a:t>
            </a:r>
            <a:endParaRPr lang="en-US" sz="1400" dirty="0"/>
          </a:p>
        </p:txBody>
      </p:sp>
      <p:sp>
        <p:nvSpPr>
          <p:cNvPr id="16" name="Text 14"/>
          <p:cNvSpPr/>
          <p:nvPr/>
        </p:nvSpPr>
        <p:spPr>
          <a:xfrm>
            <a:off x="6309360" y="2331720"/>
            <a:ext cx="2286000" cy="1371600"/>
          </a:xfrm>
          <a:prstGeom prst="rect">
            <a:avLst/>
          </a:prstGeom>
          <a:noFill/>
          <a:ln/>
        </p:spPr>
        <p:txBody>
          <a:bodyPr wrap="square" rtlCol="0" anchor="ctr"/>
          <a:lstStyle/>
          <a:p>
            <a:pPr marL="0" indent="0">
              <a:buNone/>
            </a:pPr>
            <a:r>
              <a:rPr lang="en-US" sz="1050" dirty="0">
                <a:solidFill>
                  <a:srgbClr val="5B6B79"/>
                </a:solidFill>
                <a:latin typeface="Calibri" pitchFamily="34" charset="0"/>
                <a:ea typeface="Calibri" pitchFamily="34" charset="-122"/>
                <a:cs typeface="Calibri" pitchFamily="34" charset="-120"/>
              </a:rPr>
              <a:t>Added pairwise interactions + squared terms to probe for nonlinearity.</a:t>
            </a:r>
            <a:endParaRPr lang="en-US" sz="1050" dirty="0"/>
          </a:p>
        </p:txBody>
      </p:sp>
      <p:sp>
        <p:nvSpPr>
          <p:cNvPr id="17" name="Text 15"/>
          <p:cNvSpPr/>
          <p:nvPr/>
        </p:nvSpPr>
        <p:spPr>
          <a:xfrm>
            <a:off x="6309360" y="3703320"/>
            <a:ext cx="2286000" cy="45720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0.453</a:t>
            </a:r>
            <a:endParaRPr lang="en-US" sz="2200" dirty="0"/>
          </a:p>
        </p:txBody>
      </p:sp>
      <p:sp>
        <p:nvSpPr>
          <p:cNvPr id="18" name="Text 16"/>
          <p:cNvSpPr/>
          <p:nvPr/>
        </p:nvSpPr>
        <p:spPr>
          <a:xfrm>
            <a:off x="6309360" y="4114800"/>
            <a:ext cx="2286000" cy="228600"/>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CV R²</a:t>
            </a:r>
            <a:endParaRPr lang="en-US" sz="900" dirty="0"/>
          </a:p>
        </p:txBody>
      </p:sp>
      <p:sp>
        <p:nvSpPr>
          <p:cNvPr id="19" name="Shape 17"/>
          <p:cNvSpPr/>
          <p:nvPr/>
        </p:nvSpPr>
        <p:spPr>
          <a:xfrm>
            <a:off x="8915400" y="1554480"/>
            <a:ext cx="2651760" cy="2834640"/>
          </a:xfrm>
          <a:prstGeom prst="roundRect">
            <a:avLst>
              <a:gd name="adj" fmla="val 2759"/>
            </a:avLst>
          </a:prstGeom>
          <a:solidFill>
            <a:srgbClr val="FFFFFF"/>
          </a:solidFill>
          <a:ln w="12700">
            <a:solidFill>
              <a:srgbClr val="E2E8EF"/>
            </a:solidFill>
            <a:prstDash val="solid"/>
          </a:ln>
        </p:spPr>
        <p:txBody>
          <a:bodyPr/>
          <a:lstStyle/>
          <a:p>
            <a:endParaRPr lang="en-US"/>
          </a:p>
        </p:txBody>
      </p:sp>
      <p:sp>
        <p:nvSpPr>
          <p:cNvPr id="20" name="Text 18"/>
          <p:cNvSpPr/>
          <p:nvPr/>
        </p:nvSpPr>
        <p:spPr>
          <a:xfrm>
            <a:off x="9098280" y="1737360"/>
            <a:ext cx="2286000" cy="548640"/>
          </a:xfrm>
          <a:prstGeom prst="rect">
            <a:avLst/>
          </a:prstGeom>
          <a:noFill/>
          <a:ln/>
        </p:spPr>
        <p:txBody>
          <a:bodyPr wrap="square" rtlCol="0" anchor="ctr"/>
          <a:lstStyle/>
          <a:p>
            <a:pPr marL="0" indent="0">
              <a:buNone/>
            </a:pPr>
            <a:r>
              <a:rPr lang="en-US" sz="1400" b="1" dirty="0">
                <a:solidFill>
                  <a:srgbClr val="1A2333"/>
                </a:solidFill>
                <a:latin typeface="Cambria" pitchFamily="34" charset="0"/>
                <a:ea typeface="Cambria" pitchFamily="34" charset="-122"/>
                <a:cs typeface="Cambria" pitchFamily="34" charset="-120"/>
              </a:rPr>
              <a:t>Random Forest</a:t>
            </a:r>
            <a:endParaRPr lang="en-US" sz="1400" dirty="0"/>
          </a:p>
        </p:txBody>
      </p:sp>
      <p:sp>
        <p:nvSpPr>
          <p:cNvPr id="21" name="Text 19"/>
          <p:cNvSpPr/>
          <p:nvPr/>
        </p:nvSpPr>
        <p:spPr>
          <a:xfrm>
            <a:off x="9098280" y="2331720"/>
            <a:ext cx="2286000" cy="1371600"/>
          </a:xfrm>
          <a:prstGeom prst="rect">
            <a:avLst/>
          </a:prstGeom>
          <a:noFill/>
          <a:ln/>
        </p:spPr>
        <p:txBody>
          <a:bodyPr wrap="square" rtlCol="0" anchor="ctr"/>
          <a:lstStyle/>
          <a:p>
            <a:pPr marL="0" indent="0">
              <a:buNone/>
            </a:pPr>
            <a:r>
              <a:rPr lang="en-US" sz="1050" dirty="0">
                <a:solidFill>
                  <a:srgbClr val="5B6B79"/>
                </a:solidFill>
                <a:latin typeface="Calibri" pitchFamily="34" charset="0"/>
                <a:ea typeface="Calibri" pitchFamily="34" charset="-122"/>
                <a:cs typeface="Calibri" pitchFamily="34" charset="-120"/>
              </a:rPr>
              <a:t>300 trees, to check whether a nonlinear model finds structure linear misses.</a:t>
            </a:r>
            <a:endParaRPr lang="en-US" sz="1050" dirty="0"/>
          </a:p>
        </p:txBody>
      </p:sp>
      <p:sp>
        <p:nvSpPr>
          <p:cNvPr id="22" name="Text 20"/>
          <p:cNvSpPr/>
          <p:nvPr/>
        </p:nvSpPr>
        <p:spPr>
          <a:xfrm>
            <a:off x="9098280" y="3703320"/>
            <a:ext cx="2286000" cy="457200"/>
          </a:xfrm>
          <a:prstGeom prst="rect">
            <a:avLst/>
          </a:prstGeom>
          <a:noFill/>
          <a:ln/>
        </p:spPr>
        <p:txBody>
          <a:bodyPr wrap="square" rtlCol="0" anchor="ctr"/>
          <a:lstStyle/>
          <a:p>
            <a:pPr marL="0" indent="0">
              <a:buNone/>
            </a:pPr>
            <a:r>
              <a:rPr lang="en-US" sz="2200" b="1" dirty="0">
                <a:solidFill>
                  <a:srgbClr val="1C7293"/>
                </a:solidFill>
                <a:latin typeface="Cambria" pitchFamily="34" charset="0"/>
                <a:ea typeface="Cambria" pitchFamily="34" charset="-122"/>
                <a:cs typeface="Cambria" pitchFamily="34" charset="-120"/>
              </a:rPr>
              <a:t>0.403</a:t>
            </a:r>
            <a:endParaRPr lang="en-US" sz="2200" dirty="0"/>
          </a:p>
        </p:txBody>
      </p:sp>
      <p:sp>
        <p:nvSpPr>
          <p:cNvPr id="23" name="Text 21"/>
          <p:cNvSpPr/>
          <p:nvPr/>
        </p:nvSpPr>
        <p:spPr>
          <a:xfrm>
            <a:off x="9098280" y="4114800"/>
            <a:ext cx="2286000" cy="228600"/>
          </a:xfrm>
          <a:prstGeom prst="rect">
            <a:avLst/>
          </a:prstGeom>
          <a:noFill/>
          <a:ln/>
        </p:spPr>
        <p:txBody>
          <a:bodyPr wrap="square" rtlCol="0" anchor="ctr"/>
          <a:lstStyle/>
          <a:p>
            <a:pPr marL="0" indent="0">
              <a:buNone/>
            </a:pPr>
            <a:r>
              <a:rPr lang="en-US" sz="900" dirty="0">
                <a:solidFill>
                  <a:srgbClr val="5B6B79"/>
                </a:solidFill>
                <a:latin typeface="Calibri" pitchFamily="34" charset="0"/>
                <a:ea typeface="Calibri" pitchFamily="34" charset="-122"/>
                <a:cs typeface="Calibri" pitchFamily="34" charset="-120"/>
              </a:rPr>
              <a:t>CV R²</a:t>
            </a:r>
            <a:endParaRPr lang="en-US" sz="900" dirty="0"/>
          </a:p>
        </p:txBody>
      </p:sp>
      <p:sp>
        <p:nvSpPr>
          <p:cNvPr id="24" name="Shape 22"/>
          <p:cNvSpPr/>
          <p:nvPr/>
        </p:nvSpPr>
        <p:spPr>
          <a:xfrm>
            <a:off x="548640" y="4617720"/>
            <a:ext cx="11064240" cy="1371600"/>
          </a:xfrm>
          <a:prstGeom prst="roundRect">
            <a:avLst>
              <a:gd name="adj" fmla="val 5333"/>
            </a:avLst>
          </a:prstGeom>
          <a:solidFill>
            <a:srgbClr val="FFF6EA"/>
          </a:solidFill>
          <a:ln w="12700">
            <a:solidFill>
              <a:srgbClr val="F2A65A"/>
            </a:solidFill>
            <a:prstDash val="solid"/>
          </a:ln>
        </p:spPr>
        <p:txBody>
          <a:bodyPr/>
          <a:lstStyle/>
          <a:p>
            <a:endParaRPr lang="en-US"/>
          </a:p>
        </p:txBody>
      </p:sp>
      <p:sp>
        <p:nvSpPr>
          <p:cNvPr id="25" name="Text 23"/>
          <p:cNvSpPr/>
          <p:nvPr/>
        </p:nvSpPr>
        <p:spPr>
          <a:xfrm>
            <a:off x="822960" y="4754880"/>
            <a:ext cx="10515600" cy="1097280"/>
          </a:xfrm>
          <a:prstGeom prst="rect">
            <a:avLst/>
          </a:prstGeom>
          <a:noFill/>
          <a:ln/>
        </p:spPr>
        <p:txBody>
          <a:bodyPr wrap="square" rtlCol="0" anchor="t"/>
          <a:lstStyle/>
          <a:p>
            <a:pPr marL="0" indent="0">
              <a:buNone/>
            </a:pPr>
            <a:r>
              <a:rPr lang="en-US" sz="1250" b="1" dirty="0">
                <a:solidFill>
                  <a:srgbClr val="1A2333"/>
                </a:solidFill>
                <a:latin typeface="Calibri" pitchFamily="34" charset="0"/>
                <a:ea typeface="Calibri" pitchFamily="34" charset="-122"/>
                <a:cs typeface="Calibri" pitchFamily="34" charset="-120"/>
              </a:rPr>
              <a:t>Motivation &amp; takeaway:  </a:t>
            </a:r>
            <a:r>
              <a:rPr lang="en-US" sz="1200" dirty="0">
                <a:solidFill>
                  <a:srgbClr val="5B6B79"/>
                </a:solidFill>
                <a:latin typeface="Calibri" pitchFamily="34" charset="0"/>
                <a:ea typeface="Calibri" pitchFamily="34" charset="-122"/>
                <a:cs typeface="Calibri" pitchFamily="34" charset="-120"/>
              </a:rPr>
              <a:t>Polynomial features and Random Forest were tried specifically to test for nonlinearity or feature interactions — both underperformed the plain linear model, which is strong evidence the underlying process is linear plus noise. Regularization (Ridge) made no measurable difference, so the extra complexity wasn't needed either.</a:t>
            </a:r>
            <a:endParaRPr lang="en-US" sz="1250" dirty="0"/>
          </a:p>
        </p:txBody>
      </p:sp>
      <p:sp>
        <p:nvSpPr>
          <p:cNvPr id="27" name="Text 2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FINAL APPROACH</a:t>
            </a:r>
            <a:endParaRPr lang="en-US" sz="1200" dirty="0"/>
          </a:p>
        </p:txBody>
      </p:sp>
      <p:sp>
        <p:nvSpPr>
          <p:cNvPr id="3" name="Text 1"/>
          <p:cNvSpPr/>
          <p:nvPr/>
        </p:nvSpPr>
        <p:spPr>
          <a:xfrm>
            <a:off x="548640" y="658368"/>
            <a:ext cx="10789920" cy="640080"/>
          </a:xfrm>
          <a:prstGeom prst="rect">
            <a:avLst/>
          </a:prstGeom>
          <a:noFill/>
          <a:ln/>
        </p:spPr>
        <p:txBody>
          <a:bodyPr wrap="square" rtlCol="0" anchor="ctr"/>
          <a:lstStyle/>
          <a:p>
            <a:pPr marL="0" indent="0">
              <a:buNone/>
            </a:pPr>
            <a:r>
              <a:rPr lang="en-US" sz="3000" b="1" dirty="0">
                <a:solidFill>
                  <a:srgbClr val="1A2333"/>
                </a:solidFill>
                <a:latin typeface="Cambria" pitchFamily="34" charset="0"/>
                <a:ea typeface="Cambria" pitchFamily="34" charset="-122"/>
                <a:cs typeface="Cambria" pitchFamily="34" charset="-120"/>
              </a:rPr>
              <a:t>Pipeline, submission, and score</a:t>
            </a:r>
            <a:endParaRPr lang="en-US" sz="3000" dirty="0"/>
          </a:p>
        </p:txBody>
      </p:sp>
      <p:sp>
        <p:nvSpPr>
          <p:cNvPr id="4" name="Shape 2"/>
          <p:cNvSpPr/>
          <p:nvPr/>
        </p:nvSpPr>
        <p:spPr>
          <a:xfrm>
            <a:off x="548640" y="1600200"/>
            <a:ext cx="2331720" cy="1371600"/>
          </a:xfrm>
          <a:prstGeom prst="roundRect">
            <a:avLst>
              <a:gd name="adj" fmla="val 5333"/>
            </a:avLst>
          </a:prstGeom>
          <a:solidFill>
            <a:srgbClr val="FFFFFF"/>
          </a:solidFill>
          <a:ln w="12700">
            <a:solidFill>
              <a:srgbClr val="E2E8EF"/>
            </a:solidFill>
            <a:prstDash val="solid"/>
          </a:ln>
        </p:spPr>
        <p:txBody>
          <a:bodyPr/>
          <a:lstStyle/>
          <a:p>
            <a:endParaRPr lang="en-US"/>
          </a:p>
        </p:txBody>
      </p:sp>
      <p:sp>
        <p:nvSpPr>
          <p:cNvPr id="5" name="Shape 3"/>
          <p:cNvSpPr/>
          <p:nvPr/>
        </p:nvSpPr>
        <p:spPr>
          <a:xfrm>
            <a:off x="731520" y="1783080"/>
            <a:ext cx="365760" cy="365760"/>
          </a:xfrm>
          <a:prstGeom prst="ellipse">
            <a:avLst/>
          </a:prstGeom>
          <a:solidFill>
            <a:srgbClr val="065A82"/>
          </a:solidFill>
          <a:ln/>
        </p:spPr>
        <p:txBody>
          <a:bodyPr/>
          <a:lstStyle/>
          <a:p>
            <a:endParaRPr lang="en-US"/>
          </a:p>
        </p:txBody>
      </p:sp>
      <p:sp>
        <p:nvSpPr>
          <p:cNvPr id="6" name="Text 4"/>
          <p:cNvSpPr/>
          <p:nvPr/>
        </p:nvSpPr>
        <p:spPr>
          <a:xfrm>
            <a:off x="731520" y="178308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85800" y="2286000"/>
            <a:ext cx="2057400" cy="594360"/>
          </a:xfrm>
          <a:prstGeom prst="rect">
            <a:avLst/>
          </a:prstGeom>
          <a:noFill/>
          <a:ln/>
        </p:spPr>
        <p:txBody>
          <a:bodyPr wrap="square" rtlCol="0" anchor="ctr"/>
          <a:lstStyle/>
          <a:p>
            <a:pPr marL="0" indent="0">
              <a:buNone/>
            </a:pPr>
            <a:r>
              <a:rPr lang="en-US" sz="1100" dirty="0">
                <a:solidFill>
                  <a:srgbClr val="1A2333"/>
                </a:solidFill>
                <a:latin typeface="Calibri" pitchFamily="34" charset="0"/>
                <a:ea typeface="Calibri" pitchFamily="34" charset="-122"/>
                <a:cs typeface="Calibri" pitchFamily="34" charset="-120"/>
              </a:rPr>
              <a:t>Mean-impute</a:t>
            </a:r>
            <a:endParaRPr lang="en-US" sz="1100" dirty="0"/>
          </a:p>
          <a:p>
            <a:pPr marL="0" indent="0">
              <a:buNone/>
            </a:pPr>
            <a:r>
              <a:rPr lang="en-US" sz="1100" dirty="0">
                <a:solidFill>
                  <a:srgbClr val="1A2333"/>
                </a:solidFill>
                <a:latin typeface="Calibri" pitchFamily="34" charset="0"/>
                <a:ea typeface="Calibri" pitchFamily="34" charset="-122"/>
                <a:cs typeface="Calibri" pitchFamily="34" charset="-120"/>
              </a:rPr>
              <a:t>missing values</a:t>
            </a:r>
            <a:endParaRPr lang="en-US" sz="1100" dirty="0"/>
          </a:p>
        </p:txBody>
      </p:sp>
      <p:sp>
        <p:nvSpPr>
          <p:cNvPr id="8" name="Shape 6"/>
          <p:cNvSpPr/>
          <p:nvPr/>
        </p:nvSpPr>
        <p:spPr>
          <a:xfrm>
            <a:off x="2880360" y="2286000"/>
            <a:ext cx="320040" cy="0"/>
          </a:xfrm>
          <a:prstGeom prst="line">
            <a:avLst/>
          </a:prstGeom>
          <a:noFill/>
          <a:ln w="25400">
            <a:solidFill>
              <a:srgbClr val="1C7293"/>
            </a:solidFill>
            <a:prstDash val="solid"/>
            <a:tailEnd type="triangle"/>
          </a:ln>
        </p:spPr>
        <p:txBody>
          <a:bodyPr/>
          <a:lstStyle/>
          <a:p>
            <a:endParaRPr lang="en-US"/>
          </a:p>
        </p:txBody>
      </p:sp>
      <p:sp>
        <p:nvSpPr>
          <p:cNvPr id="9" name="Shape 7"/>
          <p:cNvSpPr/>
          <p:nvPr/>
        </p:nvSpPr>
        <p:spPr>
          <a:xfrm>
            <a:off x="3200400" y="1600200"/>
            <a:ext cx="2331720" cy="1371600"/>
          </a:xfrm>
          <a:prstGeom prst="roundRect">
            <a:avLst>
              <a:gd name="adj" fmla="val 5333"/>
            </a:avLst>
          </a:prstGeom>
          <a:solidFill>
            <a:srgbClr val="FFFFFF"/>
          </a:solidFill>
          <a:ln w="12700">
            <a:solidFill>
              <a:srgbClr val="E2E8EF"/>
            </a:solidFill>
            <a:prstDash val="solid"/>
          </a:ln>
        </p:spPr>
        <p:txBody>
          <a:bodyPr/>
          <a:lstStyle/>
          <a:p>
            <a:endParaRPr lang="en-US"/>
          </a:p>
        </p:txBody>
      </p:sp>
      <p:sp>
        <p:nvSpPr>
          <p:cNvPr id="10" name="Shape 8"/>
          <p:cNvSpPr/>
          <p:nvPr/>
        </p:nvSpPr>
        <p:spPr>
          <a:xfrm>
            <a:off x="3383280" y="1783080"/>
            <a:ext cx="365760" cy="365760"/>
          </a:xfrm>
          <a:prstGeom prst="ellipse">
            <a:avLst/>
          </a:prstGeom>
          <a:solidFill>
            <a:srgbClr val="065A82"/>
          </a:solidFill>
          <a:ln/>
        </p:spPr>
        <p:txBody>
          <a:bodyPr/>
          <a:lstStyle/>
          <a:p>
            <a:endParaRPr lang="en-US"/>
          </a:p>
        </p:txBody>
      </p:sp>
      <p:sp>
        <p:nvSpPr>
          <p:cNvPr id="11" name="Text 9"/>
          <p:cNvSpPr/>
          <p:nvPr/>
        </p:nvSpPr>
        <p:spPr>
          <a:xfrm>
            <a:off x="3383280" y="178308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337560" y="2286000"/>
            <a:ext cx="2057400" cy="594360"/>
          </a:xfrm>
          <a:prstGeom prst="rect">
            <a:avLst/>
          </a:prstGeom>
          <a:noFill/>
          <a:ln/>
        </p:spPr>
        <p:txBody>
          <a:bodyPr wrap="square" rtlCol="0" anchor="ctr"/>
          <a:lstStyle/>
          <a:p>
            <a:pPr marL="0" indent="0">
              <a:buNone/>
            </a:pPr>
            <a:r>
              <a:rPr lang="en-US" sz="1100" dirty="0">
                <a:solidFill>
                  <a:srgbClr val="1A2333"/>
                </a:solidFill>
                <a:latin typeface="Calibri" pitchFamily="34" charset="0"/>
                <a:ea typeface="Calibri" pitchFamily="34" charset="-122"/>
                <a:cs typeface="Calibri" pitchFamily="34" charset="-120"/>
              </a:rPr>
              <a:t>Fit Linear</a:t>
            </a:r>
            <a:endParaRPr lang="en-US" sz="1100" dirty="0"/>
          </a:p>
          <a:p>
            <a:pPr marL="0" indent="0">
              <a:buNone/>
            </a:pPr>
            <a:r>
              <a:rPr lang="en-US" sz="1100" dirty="0">
                <a:solidFill>
                  <a:srgbClr val="1A2333"/>
                </a:solidFill>
                <a:latin typeface="Calibri" pitchFamily="34" charset="0"/>
                <a:ea typeface="Calibri" pitchFamily="34" charset="-122"/>
                <a:cs typeface="Calibri" pitchFamily="34" charset="-120"/>
              </a:rPr>
              <a:t>Regression</a:t>
            </a:r>
            <a:endParaRPr lang="en-US" sz="1100" dirty="0"/>
          </a:p>
          <a:p>
            <a:pPr marL="0" indent="0">
              <a:buNone/>
            </a:pPr>
            <a:r>
              <a:rPr lang="en-US" sz="1100" dirty="0">
                <a:solidFill>
                  <a:srgbClr val="1A2333"/>
                </a:solidFill>
                <a:latin typeface="Calibri" pitchFamily="34" charset="0"/>
                <a:ea typeface="Calibri" pitchFamily="34" charset="-122"/>
                <a:cs typeface="Calibri" pitchFamily="34" charset="-120"/>
              </a:rPr>
              <a:t>on full train</a:t>
            </a:r>
            <a:endParaRPr lang="en-US" sz="1100" dirty="0"/>
          </a:p>
        </p:txBody>
      </p:sp>
      <p:sp>
        <p:nvSpPr>
          <p:cNvPr id="13" name="Shape 11"/>
          <p:cNvSpPr/>
          <p:nvPr/>
        </p:nvSpPr>
        <p:spPr>
          <a:xfrm>
            <a:off x="5532120" y="2286000"/>
            <a:ext cx="320040" cy="0"/>
          </a:xfrm>
          <a:prstGeom prst="line">
            <a:avLst/>
          </a:prstGeom>
          <a:noFill/>
          <a:ln w="25400">
            <a:solidFill>
              <a:srgbClr val="1C7293"/>
            </a:solidFill>
            <a:prstDash val="solid"/>
            <a:tailEnd type="triangle"/>
          </a:ln>
        </p:spPr>
        <p:txBody>
          <a:bodyPr/>
          <a:lstStyle/>
          <a:p>
            <a:endParaRPr lang="en-US"/>
          </a:p>
        </p:txBody>
      </p:sp>
      <p:sp>
        <p:nvSpPr>
          <p:cNvPr id="14" name="Shape 12"/>
          <p:cNvSpPr/>
          <p:nvPr/>
        </p:nvSpPr>
        <p:spPr>
          <a:xfrm>
            <a:off x="5852160" y="1600200"/>
            <a:ext cx="2331720" cy="1371600"/>
          </a:xfrm>
          <a:prstGeom prst="roundRect">
            <a:avLst>
              <a:gd name="adj" fmla="val 5333"/>
            </a:avLst>
          </a:prstGeom>
          <a:solidFill>
            <a:srgbClr val="FFFFFF"/>
          </a:solidFill>
          <a:ln w="12700">
            <a:solidFill>
              <a:srgbClr val="E2E8EF"/>
            </a:solidFill>
            <a:prstDash val="solid"/>
          </a:ln>
        </p:spPr>
        <p:txBody>
          <a:bodyPr/>
          <a:lstStyle/>
          <a:p>
            <a:endParaRPr lang="en-US"/>
          </a:p>
        </p:txBody>
      </p:sp>
      <p:sp>
        <p:nvSpPr>
          <p:cNvPr id="15" name="Shape 13"/>
          <p:cNvSpPr/>
          <p:nvPr/>
        </p:nvSpPr>
        <p:spPr>
          <a:xfrm>
            <a:off x="6035040" y="1783080"/>
            <a:ext cx="365760" cy="365760"/>
          </a:xfrm>
          <a:prstGeom prst="ellipse">
            <a:avLst/>
          </a:prstGeom>
          <a:solidFill>
            <a:srgbClr val="065A82"/>
          </a:solidFill>
          <a:ln/>
        </p:spPr>
        <p:txBody>
          <a:bodyPr/>
          <a:lstStyle/>
          <a:p>
            <a:endParaRPr lang="en-US"/>
          </a:p>
        </p:txBody>
      </p:sp>
      <p:sp>
        <p:nvSpPr>
          <p:cNvPr id="16" name="Text 14"/>
          <p:cNvSpPr/>
          <p:nvPr/>
        </p:nvSpPr>
        <p:spPr>
          <a:xfrm>
            <a:off x="6035040" y="178308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5989320" y="2286000"/>
            <a:ext cx="2057400" cy="594360"/>
          </a:xfrm>
          <a:prstGeom prst="rect">
            <a:avLst/>
          </a:prstGeom>
          <a:noFill/>
          <a:ln/>
        </p:spPr>
        <p:txBody>
          <a:bodyPr wrap="square" rtlCol="0" anchor="ctr"/>
          <a:lstStyle/>
          <a:p>
            <a:pPr marL="0" indent="0">
              <a:buNone/>
            </a:pPr>
            <a:r>
              <a:rPr lang="en-US" sz="1100" dirty="0">
                <a:solidFill>
                  <a:srgbClr val="1A2333"/>
                </a:solidFill>
                <a:latin typeface="Calibri" pitchFamily="34" charset="0"/>
                <a:ea typeface="Calibri" pitchFamily="34" charset="-122"/>
                <a:cs typeface="Calibri" pitchFamily="34" charset="-120"/>
              </a:rPr>
              <a:t>Predict on</a:t>
            </a:r>
            <a:endParaRPr lang="en-US" sz="1100" dirty="0"/>
          </a:p>
          <a:p>
            <a:pPr marL="0" indent="0">
              <a:buNone/>
            </a:pPr>
            <a:r>
              <a:rPr lang="en-US" sz="1100" dirty="0">
                <a:solidFill>
                  <a:srgbClr val="1A2333"/>
                </a:solidFill>
                <a:latin typeface="Calibri" pitchFamily="34" charset="0"/>
                <a:ea typeface="Calibri" pitchFamily="34" charset="-122"/>
                <a:cs typeface="Calibri" pitchFamily="34" charset="-120"/>
              </a:rPr>
              <a:t>test features</a:t>
            </a:r>
            <a:endParaRPr lang="en-US" sz="1100" dirty="0"/>
          </a:p>
        </p:txBody>
      </p:sp>
      <p:sp>
        <p:nvSpPr>
          <p:cNvPr id="18" name="Shape 16"/>
          <p:cNvSpPr/>
          <p:nvPr/>
        </p:nvSpPr>
        <p:spPr>
          <a:xfrm>
            <a:off x="8183880" y="2286000"/>
            <a:ext cx="320040" cy="0"/>
          </a:xfrm>
          <a:prstGeom prst="line">
            <a:avLst/>
          </a:prstGeom>
          <a:noFill/>
          <a:ln w="25400">
            <a:solidFill>
              <a:srgbClr val="1C7293"/>
            </a:solidFill>
            <a:prstDash val="solid"/>
            <a:tailEnd type="triangle"/>
          </a:ln>
        </p:spPr>
        <p:txBody>
          <a:bodyPr/>
          <a:lstStyle/>
          <a:p>
            <a:endParaRPr lang="en-US"/>
          </a:p>
        </p:txBody>
      </p:sp>
      <p:sp>
        <p:nvSpPr>
          <p:cNvPr id="19" name="Shape 17"/>
          <p:cNvSpPr/>
          <p:nvPr/>
        </p:nvSpPr>
        <p:spPr>
          <a:xfrm>
            <a:off x="8503920" y="1600200"/>
            <a:ext cx="2331720" cy="1371600"/>
          </a:xfrm>
          <a:prstGeom prst="roundRect">
            <a:avLst>
              <a:gd name="adj" fmla="val 5333"/>
            </a:avLst>
          </a:prstGeom>
          <a:solidFill>
            <a:srgbClr val="FFFFFF"/>
          </a:solidFill>
          <a:ln w="12700">
            <a:solidFill>
              <a:srgbClr val="E2E8EF"/>
            </a:solidFill>
            <a:prstDash val="solid"/>
          </a:ln>
        </p:spPr>
        <p:txBody>
          <a:bodyPr/>
          <a:lstStyle/>
          <a:p>
            <a:endParaRPr lang="en-US"/>
          </a:p>
        </p:txBody>
      </p:sp>
      <p:sp>
        <p:nvSpPr>
          <p:cNvPr id="20" name="Shape 18"/>
          <p:cNvSpPr/>
          <p:nvPr/>
        </p:nvSpPr>
        <p:spPr>
          <a:xfrm>
            <a:off x="8686800" y="1783080"/>
            <a:ext cx="365760" cy="365760"/>
          </a:xfrm>
          <a:prstGeom prst="ellipse">
            <a:avLst/>
          </a:prstGeom>
          <a:solidFill>
            <a:srgbClr val="065A82"/>
          </a:solidFill>
          <a:ln/>
        </p:spPr>
        <p:txBody>
          <a:bodyPr/>
          <a:lstStyle/>
          <a:p>
            <a:endParaRPr lang="en-US"/>
          </a:p>
        </p:txBody>
      </p:sp>
      <p:sp>
        <p:nvSpPr>
          <p:cNvPr id="21" name="Text 19"/>
          <p:cNvSpPr/>
          <p:nvPr/>
        </p:nvSpPr>
        <p:spPr>
          <a:xfrm>
            <a:off x="8686800" y="178308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8641080" y="2286000"/>
            <a:ext cx="2057400" cy="594360"/>
          </a:xfrm>
          <a:prstGeom prst="rect">
            <a:avLst/>
          </a:prstGeom>
          <a:noFill/>
          <a:ln/>
        </p:spPr>
        <p:txBody>
          <a:bodyPr wrap="square" rtlCol="0" anchor="ctr"/>
          <a:lstStyle/>
          <a:p>
            <a:pPr marL="0" indent="0">
              <a:buNone/>
            </a:pPr>
            <a:r>
              <a:rPr lang="en-US" sz="1100" dirty="0">
                <a:solidFill>
                  <a:srgbClr val="1A2333"/>
                </a:solidFill>
                <a:latin typeface="Calibri" pitchFamily="34" charset="0"/>
                <a:ea typeface="Calibri" pitchFamily="34" charset="-122"/>
                <a:cs typeface="Calibri" pitchFamily="34" charset="-120"/>
              </a:rPr>
              <a:t>Format &amp;</a:t>
            </a:r>
            <a:endParaRPr lang="en-US" sz="1100" dirty="0"/>
          </a:p>
          <a:p>
            <a:pPr marL="0" indent="0">
              <a:buNone/>
            </a:pPr>
            <a:r>
              <a:rPr lang="en-US" sz="1100" dirty="0">
                <a:solidFill>
                  <a:srgbClr val="1A2333"/>
                </a:solidFill>
                <a:latin typeface="Calibri" pitchFamily="34" charset="0"/>
                <a:ea typeface="Calibri" pitchFamily="34" charset="-122"/>
                <a:cs typeface="Calibri" pitchFamily="34" charset="-120"/>
              </a:rPr>
              <a:t>submit CSV</a:t>
            </a:r>
            <a:endParaRPr lang="en-US" sz="1100" dirty="0"/>
          </a:p>
        </p:txBody>
      </p:sp>
      <p:sp>
        <p:nvSpPr>
          <p:cNvPr id="23" name="Text 21"/>
          <p:cNvSpPr/>
          <p:nvPr/>
        </p:nvSpPr>
        <p:spPr>
          <a:xfrm>
            <a:off x="548640" y="3429000"/>
            <a:ext cx="274320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Results</a:t>
            </a:r>
            <a:endParaRPr lang="en-US" sz="1200" dirty="0"/>
          </a:p>
        </p:txBody>
      </p:sp>
      <p:sp>
        <p:nvSpPr>
          <p:cNvPr id="24" name="Shape 22"/>
          <p:cNvSpPr/>
          <p:nvPr/>
        </p:nvSpPr>
        <p:spPr>
          <a:xfrm>
            <a:off x="548640" y="3794760"/>
            <a:ext cx="2606040" cy="1737360"/>
          </a:xfrm>
          <a:prstGeom prst="roundRect">
            <a:avLst>
              <a:gd name="adj" fmla="val 4211"/>
            </a:avLst>
          </a:prstGeom>
          <a:solidFill>
            <a:srgbClr val="065A82"/>
          </a:solidFill>
          <a:ln w="12700">
            <a:solidFill>
              <a:srgbClr val="065A82"/>
            </a:solidFill>
            <a:prstDash val="solid"/>
          </a:ln>
        </p:spPr>
        <p:txBody>
          <a:bodyPr/>
          <a:lstStyle/>
          <a:p>
            <a:endParaRPr lang="en-US" dirty="0"/>
          </a:p>
        </p:txBody>
      </p:sp>
      <p:sp>
        <p:nvSpPr>
          <p:cNvPr id="25" name="Text 23"/>
          <p:cNvSpPr/>
          <p:nvPr/>
        </p:nvSpPr>
        <p:spPr>
          <a:xfrm>
            <a:off x="548640" y="3977640"/>
            <a:ext cx="2606040" cy="685800"/>
          </a:xfrm>
          <a:prstGeom prst="rect">
            <a:avLst/>
          </a:prstGeom>
          <a:noFill/>
          <a:ln/>
        </p:spPr>
        <p:txBody>
          <a:bodyPr wrap="square" rtlCol="0" anchor="ctr"/>
          <a:lstStyle/>
          <a:p>
            <a:pPr marL="0" indent="0" algn="ctr">
              <a:buNone/>
            </a:pPr>
            <a:r>
              <a:rPr lang="en-US" sz="2600" b="1" dirty="0">
                <a:solidFill>
                  <a:srgbClr val="F2A65A"/>
                </a:solidFill>
                <a:latin typeface="Cambria" pitchFamily="34" charset="0"/>
                <a:ea typeface="Cambria" pitchFamily="34" charset="-122"/>
                <a:cs typeface="Cambria" pitchFamily="34" charset="-120"/>
              </a:rPr>
              <a:t>0.540</a:t>
            </a:r>
            <a:endParaRPr lang="en-US" sz="2600" dirty="0"/>
          </a:p>
        </p:txBody>
      </p:sp>
      <p:sp>
        <p:nvSpPr>
          <p:cNvPr id="26" name="Text 24"/>
          <p:cNvSpPr/>
          <p:nvPr/>
        </p:nvSpPr>
        <p:spPr>
          <a:xfrm>
            <a:off x="548640" y="4663440"/>
            <a:ext cx="2606040" cy="77724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5-fold CV R²</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(training)</a:t>
            </a:r>
            <a:endParaRPr lang="en-US" sz="1100" dirty="0"/>
          </a:p>
        </p:txBody>
      </p:sp>
      <p:sp>
        <p:nvSpPr>
          <p:cNvPr id="27" name="Shape 25"/>
          <p:cNvSpPr/>
          <p:nvPr/>
        </p:nvSpPr>
        <p:spPr>
          <a:xfrm>
            <a:off x="3383280" y="3794760"/>
            <a:ext cx="2606040" cy="1737360"/>
          </a:xfrm>
          <a:prstGeom prst="roundRect">
            <a:avLst>
              <a:gd name="adj" fmla="val 4211"/>
            </a:avLst>
          </a:prstGeom>
          <a:solidFill>
            <a:srgbClr val="065A82"/>
          </a:solidFill>
          <a:ln w="12700">
            <a:solidFill>
              <a:srgbClr val="065A82"/>
            </a:solidFill>
            <a:prstDash val="solid"/>
          </a:ln>
        </p:spPr>
        <p:txBody>
          <a:bodyPr/>
          <a:lstStyle/>
          <a:p>
            <a:endParaRPr lang="en-US" dirty="0"/>
          </a:p>
        </p:txBody>
      </p:sp>
      <p:sp>
        <p:nvSpPr>
          <p:cNvPr id="28" name="Text 26"/>
          <p:cNvSpPr/>
          <p:nvPr/>
        </p:nvSpPr>
        <p:spPr>
          <a:xfrm>
            <a:off x="3383280" y="3977640"/>
            <a:ext cx="2606040" cy="685800"/>
          </a:xfrm>
          <a:prstGeom prst="rect">
            <a:avLst/>
          </a:prstGeom>
          <a:noFill/>
          <a:ln/>
        </p:spPr>
        <p:txBody>
          <a:bodyPr wrap="square" rtlCol="0" anchor="ctr"/>
          <a:lstStyle/>
          <a:p>
            <a:pPr marL="0" indent="0" algn="ctr">
              <a:buNone/>
            </a:pPr>
            <a:r>
              <a:rPr lang="en-US" sz="2600" b="1" dirty="0">
                <a:solidFill>
                  <a:srgbClr val="F2A65A"/>
                </a:solidFill>
                <a:latin typeface="Cambria" pitchFamily="34" charset="0"/>
                <a:ea typeface="Cambria" pitchFamily="34" charset="-122"/>
                <a:cs typeface="Cambria" pitchFamily="34" charset="-120"/>
              </a:rPr>
              <a:t>0.571</a:t>
            </a:r>
            <a:endParaRPr lang="en-US" sz="2600" dirty="0"/>
          </a:p>
        </p:txBody>
      </p:sp>
      <p:sp>
        <p:nvSpPr>
          <p:cNvPr id="29" name="Text 27"/>
          <p:cNvSpPr/>
          <p:nvPr/>
        </p:nvSpPr>
        <p:spPr>
          <a:xfrm>
            <a:off x="3383280" y="4663440"/>
            <a:ext cx="2606040" cy="77724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Public</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Leaderboard R²</a:t>
            </a:r>
            <a:endParaRPr lang="en-US" sz="1100" dirty="0"/>
          </a:p>
        </p:txBody>
      </p:sp>
      <p:sp>
        <p:nvSpPr>
          <p:cNvPr id="30" name="Shape 28"/>
          <p:cNvSpPr/>
          <p:nvPr/>
        </p:nvSpPr>
        <p:spPr>
          <a:xfrm>
            <a:off x="6217920" y="3794760"/>
            <a:ext cx="2606040" cy="1737360"/>
          </a:xfrm>
          <a:prstGeom prst="roundRect">
            <a:avLst>
              <a:gd name="adj" fmla="val 4211"/>
            </a:avLst>
          </a:prstGeom>
          <a:solidFill>
            <a:srgbClr val="065A82"/>
          </a:solidFill>
          <a:ln w="12700">
            <a:solidFill>
              <a:srgbClr val="065A82"/>
            </a:solidFill>
            <a:prstDash val="solid"/>
          </a:ln>
        </p:spPr>
        <p:txBody>
          <a:bodyPr/>
          <a:lstStyle/>
          <a:p>
            <a:endParaRPr lang="en-US"/>
          </a:p>
        </p:txBody>
      </p:sp>
      <p:sp>
        <p:nvSpPr>
          <p:cNvPr id="31" name="Text 29"/>
          <p:cNvSpPr/>
          <p:nvPr/>
        </p:nvSpPr>
        <p:spPr>
          <a:xfrm>
            <a:off x="6217920" y="3977640"/>
            <a:ext cx="2606040" cy="685800"/>
          </a:xfrm>
          <a:prstGeom prst="rect">
            <a:avLst/>
          </a:prstGeom>
          <a:noFill/>
          <a:ln/>
        </p:spPr>
        <p:txBody>
          <a:bodyPr wrap="square" rtlCol="0" anchor="ctr"/>
          <a:lstStyle/>
          <a:p>
            <a:pPr marL="0" indent="0" algn="ctr">
              <a:buNone/>
            </a:pPr>
            <a:r>
              <a:rPr lang="en-US" sz="2600" b="1" dirty="0">
                <a:solidFill>
                  <a:srgbClr val="F2A65A"/>
                </a:solidFill>
                <a:latin typeface="Cambria" pitchFamily="34" charset="0"/>
                <a:ea typeface="Cambria" pitchFamily="34" charset="-122"/>
                <a:cs typeface="Cambria" pitchFamily="34" charset="-120"/>
              </a:rPr>
              <a:t>0.541</a:t>
            </a:r>
            <a:endParaRPr lang="en-US" sz="2600" dirty="0"/>
          </a:p>
        </p:txBody>
      </p:sp>
      <p:sp>
        <p:nvSpPr>
          <p:cNvPr id="32" name="Text 30"/>
          <p:cNvSpPr/>
          <p:nvPr/>
        </p:nvSpPr>
        <p:spPr>
          <a:xfrm>
            <a:off x="6217920" y="4663440"/>
            <a:ext cx="2606040" cy="77724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Private</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Leaderboard R²</a:t>
            </a:r>
            <a:endParaRPr lang="en-US" sz="1100" dirty="0"/>
          </a:p>
        </p:txBody>
      </p:sp>
      <p:sp>
        <p:nvSpPr>
          <p:cNvPr id="33" name="Shape 31"/>
          <p:cNvSpPr/>
          <p:nvPr/>
        </p:nvSpPr>
        <p:spPr>
          <a:xfrm>
            <a:off x="9052560" y="3794760"/>
            <a:ext cx="2606040" cy="1737360"/>
          </a:xfrm>
          <a:prstGeom prst="roundRect">
            <a:avLst>
              <a:gd name="adj" fmla="val 4211"/>
            </a:avLst>
          </a:prstGeom>
          <a:solidFill>
            <a:srgbClr val="FFFFFF"/>
          </a:solidFill>
          <a:ln w="12700">
            <a:solidFill>
              <a:srgbClr val="E2E8EF"/>
            </a:solidFill>
            <a:prstDash val="solid"/>
          </a:ln>
        </p:spPr>
        <p:txBody>
          <a:bodyPr/>
          <a:lstStyle/>
          <a:p>
            <a:endParaRPr lang="en-US"/>
          </a:p>
        </p:txBody>
      </p:sp>
      <p:sp>
        <p:nvSpPr>
          <p:cNvPr id="34" name="Text 32"/>
          <p:cNvSpPr/>
          <p:nvPr/>
        </p:nvSpPr>
        <p:spPr>
          <a:xfrm>
            <a:off x="9052560" y="3977640"/>
            <a:ext cx="2606040" cy="685800"/>
          </a:xfrm>
          <a:prstGeom prst="rect">
            <a:avLst/>
          </a:prstGeom>
          <a:noFill/>
          <a:ln/>
        </p:spPr>
        <p:txBody>
          <a:bodyPr wrap="square" rtlCol="0" anchor="ctr"/>
          <a:lstStyle/>
          <a:p>
            <a:pPr marL="0" indent="0" algn="ctr">
              <a:buNone/>
            </a:pPr>
            <a:r>
              <a:rPr lang="en-US" sz="2600" b="1" dirty="0">
                <a:solidFill>
                  <a:srgbClr val="5B6B79"/>
                </a:solidFill>
                <a:latin typeface="Cambria" pitchFamily="34" charset="0"/>
                <a:ea typeface="Cambria" pitchFamily="34" charset="-122"/>
                <a:cs typeface="Cambria" pitchFamily="34" charset="-120"/>
              </a:rPr>
              <a:t>0.540</a:t>
            </a:r>
            <a:endParaRPr lang="en-US" sz="2600" dirty="0"/>
          </a:p>
        </p:txBody>
      </p:sp>
      <p:sp>
        <p:nvSpPr>
          <p:cNvPr id="35" name="Text 33"/>
          <p:cNvSpPr/>
          <p:nvPr/>
        </p:nvSpPr>
        <p:spPr>
          <a:xfrm>
            <a:off x="9052560" y="4663440"/>
            <a:ext cx="2606040" cy="777240"/>
          </a:xfrm>
          <a:prstGeom prst="rect">
            <a:avLst/>
          </a:prstGeom>
          <a:noFill/>
          <a:ln/>
        </p:spPr>
        <p:txBody>
          <a:bodyPr wrap="square" rtlCol="0" anchor="ctr"/>
          <a:lstStyle/>
          <a:p>
            <a:pPr marL="0" indent="0" algn="ctr">
              <a:buNone/>
            </a:pPr>
            <a:r>
              <a:rPr lang="en-US" sz="1100" dirty="0">
                <a:solidFill>
                  <a:srgbClr val="5B6B79"/>
                </a:solidFill>
                <a:latin typeface="Calibri" pitchFamily="34" charset="0"/>
                <a:ea typeface="Calibri" pitchFamily="34" charset="-122"/>
                <a:cs typeface="Calibri" pitchFamily="34" charset="-120"/>
              </a:rPr>
              <a:t>Baseline</a:t>
            </a:r>
            <a:endParaRPr lang="en-US" sz="1100" dirty="0"/>
          </a:p>
          <a:p>
            <a:pPr marL="0" indent="0" algn="ctr">
              <a:buNone/>
            </a:pPr>
            <a:r>
              <a:rPr lang="en-US" sz="1100" dirty="0">
                <a:solidFill>
                  <a:srgbClr val="5B6B79"/>
                </a:solidFill>
                <a:latin typeface="Calibri" pitchFamily="34" charset="0"/>
                <a:ea typeface="Calibri" pitchFamily="34" charset="-122"/>
                <a:cs typeface="Calibri" pitchFamily="34" charset="-120"/>
              </a:rPr>
              <a:t>(Private R²)</a:t>
            </a:r>
            <a:endParaRPr lang="en-US" sz="1100" dirty="0"/>
          </a:p>
        </p:txBody>
      </p:sp>
      <p:sp>
        <p:nvSpPr>
          <p:cNvPr id="36" name="Text 34"/>
          <p:cNvSpPr/>
          <p:nvPr/>
        </p:nvSpPr>
        <p:spPr>
          <a:xfrm>
            <a:off x="548640" y="5806440"/>
            <a:ext cx="10972800" cy="457200"/>
          </a:xfrm>
          <a:prstGeom prst="rect">
            <a:avLst/>
          </a:prstGeom>
          <a:noFill/>
          <a:ln/>
        </p:spPr>
        <p:txBody>
          <a:bodyPr wrap="square" rtlCol="0" anchor="ctr"/>
          <a:lstStyle/>
          <a:p>
            <a:pPr marL="0" indent="0">
              <a:buNone/>
            </a:pPr>
            <a:r>
              <a:rPr lang="en-US" sz="1150" i="1" dirty="0">
                <a:solidFill>
                  <a:srgbClr val="5B6B79"/>
                </a:solidFill>
                <a:latin typeface="Calibri" pitchFamily="34" charset="0"/>
                <a:ea typeface="Calibri" pitchFamily="34" charset="-122"/>
                <a:cs typeface="Calibri" pitchFamily="34" charset="-120"/>
              </a:rPr>
              <a:t>Private score (0.541) edges past the posted baseline (0.540) — modest, but confirms the model generalizes rather than overfitting to the public split.</a:t>
            </a:r>
            <a:endParaRPr lang="en-US" sz="1150" dirty="0"/>
          </a:p>
        </p:txBody>
      </p:sp>
      <p:sp>
        <p:nvSpPr>
          <p:cNvPr id="38" name="Text 3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640080" y="822960"/>
            <a:ext cx="7315200" cy="365760"/>
          </a:xfrm>
          <a:prstGeom prst="rect">
            <a:avLst/>
          </a:prstGeom>
          <a:noFill/>
          <a:ln/>
        </p:spPr>
        <p:txBody>
          <a:bodyPr wrap="square" rtlCol="0" anchor="ctr"/>
          <a:lstStyle/>
          <a:p>
            <a:pPr marL="0" indent="0">
              <a:buNone/>
            </a:pPr>
            <a:r>
              <a:rPr lang="en-US" sz="1300" b="1" kern="0" spc="200" dirty="0">
                <a:solidFill>
                  <a:srgbClr val="9FD3E8"/>
                </a:solidFill>
                <a:latin typeface="Calibri" pitchFamily="34" charset="0"/>
                <a:ea typeface="Calibri" pitchFamily="34" charset="-122"/>
                <a:cs typeface="Calibri" pitchFamily="34" charset="-120"/>
              </a:rPr>
              <a:t>CODE &amp; REPRODUCIBILITY</a:t>
            </a:r>
            <a:endParaRPr lang="en-US" sz="1300" dirty="0"/>
          </a:p>
        </p:txBody>
      </p:sp>
      <p:sp>
        <p:nvSpPr>
          <p:cNvPr id="3" name="Text 1"/>
          <p:cNvSpPr/>
          <p:nvPr/>
        </p:nvSpPr>
        <p:spPr>
          <a:xfrm>
            <a:off x="640080" y="1234440"/>
            <a:ext cx="91440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Everything above is reproducible</a:t>
            </a:r>
            <a:endParaRPr lang="en-US" sz="3200" dirty="0"/>
          </a:p>
        </p:txBody>
      </p:sp>
      <p:sp>
        <p:nvSpPr>
          <p:cNvPr id="4" name="Shape 2"/>
          <p:cNvSpPr/>
          <p:nvPr/>
        </p:nvSpPr>
        <p:spPr>
          <a:xfrm>
            <a:off x="640080" y="2377440"/>
            <a:ext cx="109728" cy="109728"/>
          </a:xfrm>
          <a:prstGeom prst="ellipse">
            <a:avLst/>
          </a:prstGeom>
          <a:solidFill>
            <a:srgbClr val="F2A65A"/>
          </a:solidFill>
          <a:ln/>
        </p:spPr>
        <p:txBody>
          <a:bodyPr/>
          <a:lstStyle/>
          <a:p>
            <a:endParaRPr lang="en-US"/>
          </a:p>
        </p:txBody>
      </p:sp>
      <p:sp>
        <p:nvSpPr>
          <p:cNvPr id="5" name="Text 3"/>
          <p:cNvSpPr/>
          <p:nvPr/>
        </p:nvSpPr>
        <p:spPr>
          <a:xfrm>
            <a:off x="914400" y="2212848"/>
            <a:ext cx="77724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Kaggle notebook (EDA + all four experiments)</a:t>
            </a:r>
            <a:endParaRPr lang="en-US" sz="1300" dirty="0"/>
          </a:p>
        </p:txBody>
      </p:sp>
      <p:sp>
        <p:nvSpPr>
          <p:cNvPr id="6" name="Text 4"/>
          <p:cNvSpPr/>
          <p:nvPr/>
        </p:nvSpPr>
        <p:spPr>
          <a:xfrm>
            <a:off x="914400" y="2514600"/>
            <a:ext cx="7772400" cy="320040"/>
          </a:xfrm>
          <a:prstGeom prst="rect">
            <a:avLst/>
          </a:prstGeom>
          <a:noFill/>
          <a:ln/>
        </p:spPr>
        <p:txBody>
          <a:bodyPr wrap="square" rtlCol="0" anchor="ctr"/>
          <a:lstStyle/>
          <a:p>
            <a:pPr marL="0" indent="0">
              <a:buNone/>
            </a:pPr>
            <a:r>
              <a:rPr lang="en-US" sz="1150" dirty="0">
                <a:solidFill>
                  <a:srgbClr val="9FD3E8"/>
                </a:solidFill>
                <a:latin typeface="Calibri" pitchFamily="34" charset="0"/>
                <a:ea typeface="Calibri" pitchFamily="34" charset="-122"/>
                <a:cs typeface="Calibri" pitchFamily="34" charset="-120"/>
              </a:rPr>
              <a:t>kaggle.com/code/lydiasofia/YG-MSCS2202</a:t>
            </a:r>
            <a:endParaRPr lang="en-US" sz="1150" dirty="0"/>
          </a:p>
        </p:txBody>
      </p:sp>
      <p:sp>
        <p:nvSpPr>
          <p:cNvPr id="7" name="Shape 5"/>
          <p:cNvSpPr/>
          <p:nvPr/>
        </p:nvSpPr>
        <p:spPr>
          <a:xfrm>
            <a:off x="640080" y="3291840"/>
            <a:ext cx="109728" cy="109728"/>
          </a:xfrm>
          <a:prstGeom prst="ellipse">
            <a:avLst/>
          </a:prstGeom>
          <a:solidFill>
            <a:srgbClr val="F2A65A"/>
          </a:solidFill>
          <a:ln/>
        </p:spPr>
        <p:txBody>
          <a:bodyPr/>
          <a:lstStyle/>
          <a:p>
            <a:endParaRPr lang="en-US"/>
          </a:p>
        </p:txBody>
      </p:sp>
      <p:sp>
        <p:nvSpPr>
          <p:cNvPr id="8" name="Text 6"/>
          <p:cNvSpPr/>
          <p:nvPr/>
        </p:nvSpPr>
        <p:spPr>
          <a:xfrm>
            <a:off x="914400" y="3127248"/>
            <a:ext cx="77724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GitHub repository (code + this slide deck PDF)</a:t>
            </a:r>
            <a:endParaRPr lang="en-US" sz="1300" dirty="0"/>
          </a:p>
        </p:txBody>
      </p:sp>
      <p:sp>
        <p:nvSpPr>
          <p:cNvPr id="9" name="Text 7"/>
          <p:cNvSpPr/>
          <p:nvPr/>
        </p:nvSpPr>
        <p:spPr>
          <a:xfrm>
            <a:off x="914400" y="3429000"/>
            <a:ext cx="7772400" cy="320040"/>
          </a:xfrm>
          <a:prstGeom prst="rect">
            <a:avLst/>
          </a:prstGeom>
          <a:noFill/>
          <a:ln/>
        </p:spPr>
        <p:txBody>
          <a:bodyPr wrap="square" rtlCol="0" anchor="ctr"/>
          <a:lstStyle/>
          <a:p>
            <a:pPr marL="0" indent="0">
              <a:buNone/>
            </a:pPr>
            <a:r>
              <a:rPr lang="en-US" sz="1150" dirty="0">
                <a:solidFill>
                  <a:srgbClr val="9FD3E8"/>
                </a:solidFill>
                <a:latin typeface="Calibri" pitchFamily="34" charset="0"/>
                <a:ea typeface="Calibri" pitchFamily="34" charset="-122"/>
                <a:cs typeface="Calibri" pitchFamily="34" charset="-120"/>
              </a:rPr>
              <a:t>github.com/&lt;your-username&gt;/sofia-ml-regression-2026</a:t>
            </a:r>
            <a:endParaRPr lang="en-US" sz="1150" dirty="0"/>
          </a:p>
        </p:txBody>
      </p:sp>
      <p:sp>
        <p:nvSpPr>
          <p:cNvPr id="10" name="Shape 8"/>
          <p:cNvSpPr/>
          <p:nvPr/>
        </p:nvSpPr>
        <p:spPr>
          <a:xfrm>
            <a:off x="640080" y="4206240"/>
            <a:ext cx="109728" cy="109728"/>
          </a:xfrm>
          <a:prstGeom prst="ellipse">
            <a:avLst/>
          </a:prstGeom>
          <a:solidFill>
            <a:srgbClr val="F2A65A"/>
          </a:solidFill>
          <a:ln/>
        </p:spPr>
        <p:txBody>
          <a:bodyPr/>
          <a:lstStyle/>
          <a:p>
            <a:endParaRPr lang="en-US"/>
          </a:p>
        </p:txBody>
      </p:sp>
      <p:sp>
        <p:nvSpPr>
          <p:cNvPr id="11" name="Text 9"/>
          <p:cNvSpPr/>
          <p:nvPr/>
        </p:nvSpPr>
        <p:spPr>
          <a:xfrm>
            <a:off x="914400" y="4041648"/>
            <a:ext cx="77724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Competition</a:t>
            </a:r>
            <a:endParaRPr lang="en-US" sz="1300" dirty="0"/>
          </a:p>
        </p:txBody>
      </p:sp>
      <p:sp>
        <p:nvSpPr>
          <p:cNvPr id="12" name="Text 10"/>
          <p:cNvSpPr/>
          <p:nvPr/>
        </p:nvSpPr>
        <p:spPr>
          <a:xfrm>
            <a:off x="914400" y="4343400"/>
            <a:ext cx="7772400" cy="320040"/>
          </a:xfrm>
          <a:prstGeom prst="rect">
            <a:avLst/>
          </a:prstGeom>
          <a:noFill/>
          <a:ln/>
        </p:spPr>
        <p:txBody>
          <a:bodyPr wrap="square" rtlCol="0" anchor="ctr"/>
          <a:lstStyle/>
          <a:p>
            <a:pPr marL="0" indent="0">
              <a:buNone/>
            </a:pPr>
            <a:r>
              <a:rPr lang="en-US" sz="1150" dirty="0">
                <a:solidFill>
                  <a:srgbClr val="9FD3E8"/>
                </a:solidFill>
                <a:latin typeface="Calibri" pitchFamily="34" charset="0"/>
                <a:ea typeface="Calibri" pitchFamily="34" charset="-122"/>
                <a:cs typeface="Calibri" pitchFamily="34" charset="-120"/>
              </a:rPr>
              <a:t>kaggle.com/t/9c82636ae0924188856c228fadfee148</a:t>
            </a:r>
            <a:endParaRPr lang="en-US" sz="1150" dirty="0"/>
          </a:p>
        </p:txBody>
      </p:sp>
      <p:sp>
        <p:nvSpPr>
          <p:cNvPr id="13" name="Shape 11"/>
          <p:cNvSpPr/>
          <p:nvPr/>
        </p:nvSpPr>
        <p:spPr>
          <a:xfrm>
            <a:off x="594360" y="4854885"/>
            <a:ext cx="10881360" cy="914400"/>
          </a:xfrm>
          <a:prstGeom prst="roundRect">
            <a:avLst>
              <a:gd name="adj" fmla="val 8000"/>
            </a:avLst>
          </a:prstGeom>
          <a:solidFill>
            <a:srgbClr val="1B2450"/>
          </a:solidFill>
          <a:ln w="12700">
            <a:solidFill>
              <a:srgbClr val="334081"/>
            </a:solidFill>
            <a:prstDash val="solid"/>
          </a:ln>
        </p:spPr>
        <p:txBody>
          <a:bodyPr/>
          <a:lstStyle/>
          <a:p>
            <a:endParaRPr lang="en-US"/>
          </a:p>
        </p:txBody>
      </p:sp>
      <p:sp>
        <p:nvSpPr>
          <p:cNvPr id="14" name="Text 12"/>
          <p:cNvSpPr/>
          <p:nvPr/>
        </p:nvSpPr>
        <p:spPr>
          <a:xfrm>
            <a:off x="694944" y="4992045"/>
            <a:ext cx="10332720" cy="64008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Key takeaway:  </a:t>
            </a:r>
            <a:r>
              <a:rPr lang="en-US" sz="1250" dirty="0">
                <a:solidFill>
                  <a:srgbClr val="CADCFC"/>
                </a:solidFill>
                <a:latin typeface="Calibri" pitchFamily="34" charset="0"/>
                <a:ea typeface="Calibri" pitchFamily="34" charset="-122"/>
                <a:cs typeface="Calibri" pitchFamily="34" charset="-120"/>
              </a:rPr>
              <a:t>when the data-generating process is close to linear, the winning model is often the simplest one — the job was validating that belief, not fighting it.</a:t>
            </a:r>
            <a:endParaRPr lang="en-US" sz="1300" dirty="0"/>
          </a:p>
        </p:txBody>
      </p:sp>
      <p:sp>
        <p:nvSpPr>
          <p:cNvPr id="16" name="Text 1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6208C-D57A-C5C8-6579-49106B8C5550}"/>
              </a:ext>
            </a:extLst>
          </p:cNvPr>
          <p:cNvSpPr/>
          <p:nvPr/>
        </p:nvSpPr>
        <p:spPr>
          <a:xfrm>
            <a:off x="7846390" y="1411358"/>
            <a:ext cx="3888410" cy="2845567"/>
          </a:xfrm>
          <a:prstGeom prst="rect">
            <a:avLst/>
          </a:prstGeom>
        </p:spPr>
        <p:txBody>
          <a:bodyPr vert="horz" lIns="91440" tIns="45720" rIns="91440" bIns="45720" rtlCol="0" anchor="b">
            <a:normAutofit/>
          </a:bodyPr>
          <a:lstStyle/>
          <a:p>
            <a:pPr>
              <a:lnSpc>
                <a:spcPct val="95000"/>
              </a:lnSpc>
              <a:spcBef>
                <a:spcPct val="0"/>
              </a:spcBef>
              <a:spcAft>
                <a:spcPts val="600"/>
              </a:spcAft>
            </a:pPr>
            <a:r>
              <a:rPr lang="en-US" sz="4400" b="1" kern="1200" cap="none" spc="-30" baseline="0" dirty="0">
                <a:ln w="12700">
                  <a:solidFill>
                    <a:schemeClr val="accent1"/>
                  </a:solidFill>
                  <a:prstDash val="solid"/>
                </a:ln>
                <a:effectLst>
                  <a:outerShdw dist="38100" dir="2640000" algn="bl" rotWithShape="0">
                    <a:schemeClr val="accent1"/>
                  </a:outerShdw>
                </a:effectLst>
                <a:latin typeface="+mj-lt"/>
                <a:ea typeface="+mj-ea"/>
                <a:cs typeface="+mj-cs"/>
              </a:rPr>
              <a:t>Thank you!!</a:t>
            </a:r>
          </a:p>
          <a:p>
            <a:pPr>
              <a:lnSpc>
                <a:spcPct val="95000"/>
              </a:lnSpc>
              <a:spcBef>
                <a:spcPct val="0"/>
              </a:spcBef>
              <a:spcAft>
                <a:spcPts val="600"/>
              </a:spcAft>
            </a:pPr>
            <a:endParaRPr lang="en-US" sz="4400" b="1" kern="1200" cap="none" spc="-30" baseline="0" dirty="0">
              <a:ln w="12700">
                <a:solidFill>
                  <a:schemeClr val="accent1"/>
                </a:solidFill>
                <a:prstDash val="solid"/>
              </a:ln>
              <a:effectLst>
                <a:outerShdw dist="38100" dir="2640000" algn="bl" rotWithShape="0">
                  <a:schemeClr val="accent1"/>
                </a:outerShdw>
              </a:effectLst>
              <a:latin typeface="+mj-lt"/>
              <a:ea typeface="+mj-ea"/>
              <a:cs typeface="+mj-cs"/>
            </a:endParaRPr>
          </a:p>
        </p:txBody>
      </p:sp>
      <p:sp>
        <p:nvSpPr>
          <p:cNvPr id="10" name="Picture Placeholder 3">
            <a:extLst>
              <a:ext uri="{FF2B5EF4-FFF2-40B4-BE49-F238E27FC236}">
                <a16:creationId xmlns:a16="http://schemas.microsoft.com/office/drawing/2014/main" id="{90761B68-EEDD-F0EE-DF36-A7C68D72BC66}"/>
              </a:ext>
            </a:extLst>
          </p:cNvPr>
          <p:cNvSpPr>
            <a:spLocks noGrp="1" noChangeAspect="1"/>
          </p:cNvSpPr>
          <p:nvPr>
            <p:ph type="pic" sz="quarter" idx="14"/>
          </p:nvPr>
        </p:nvSpPr>
        <p:spPr>
          <a:xfrm>
            <a:off x="1" y="0"/>
            <a:ext cx="7424272" cy="6858000"/>
          </a:xfrm>
        </p:spPr>
        <p:txBody>
          <a:bodyPr/>
          <a:lstStyle/>
          <a:p>
            <a:endParaRPr lang="en-US" dirty="0"/>
          </a:p>
        </p:txBody>
      </p:sp>
    </p:spTree>
    <p:extLst>
      <p:ext uri="{BB962C8B-B14F-4D97-AF65-F5344CB8AC3E}">
        <p14:creationId xmlns:p14="http://schemas.microsoft.com/office/powerpoint/2010/main" val="1816024356"/>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Helena</Template>
  <TotalTime>1428</TotalTime>
  <Words>1760</Words>
  <Application>Microsoft Office PowerPoint</Application>
  <PresentationFormat>Widescreen</PresentationFormat>
  <Paragraphs>110</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Neue Haas Grotesk Text Pro</vt:lpstr>
      <vt:lpstr>Helena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Yijia Guo</cp:lastModifiedBy>
  <cp:revision>7</cp:revision>
  <dcterms:created xsi:type="dcterms:W3CDTF">2026-09-08T07:48:01Z</dcterms:created>
  <dcterms:modified xsi:type="dcterms:W3CDTF">2026-09-09T07:53:11Z</dcterms:modified>
</cp:coreProperties>
</file>